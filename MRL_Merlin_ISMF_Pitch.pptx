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D1B3E"/>
        </a:solidFill>
      </p:bgPr>
    </p:bg>
    <p:spTree>
      <p:nvGrpSpPr>
        <p:cNvPr id="1" name=""/>
        <p:cNvGrpSpPr/>
        <p:nvPr/>
      </p:nvGrpSpPr>
      <p:grpSpPr>
        <a:xfrm>
          <a:off x="0" y="0"/>
          <a:ext cx="0" cy="0"/>
          <a:chOff x="0" y="0"/>
          <a:chExt cx="0" cy="0"/>
        </a:xfrm>
      </p:grpSpPr>
      <p:sp>
        <p:nvSpPr>
          <p:cNvPr id="20" name="Shape 0"/>
          <p:cNvSpPr/>
          <p:nvPr/>
        </p:nvSpPr>
        <p:spPr>
          <a:xfrm>
            <a:off x="6675119" y="0"/>
            <a:ext cx="2468881" cy="5143500"/>
          </a:xfrm>
          <a:prstGeom prst="rect">
            <a:avLst/>
          </a:prstGeom>
          <a:solidFill>
            <a:srgbClr val="162347"/>
          </a:solidFill>
          <a:ln w="12700">
            <a:solidFill>
              <a:srgbClr val="162347"/>
            </a:solidFill>
          </a:ln>
        </p:spPr>
        <p:txBody>
          <a:bodyPr lIns="45719" rIns="45719"/>
          <a:lstStyle/>
          <a:p>
            <a:pPr/>
          </a:p>
        </p:txBody>
      </p:sp>
      <p:sp>
        <p:nvSpPr>
          <p:cNvPr id="21" name="Shape 1"/>
          <p:cNvSpPr/>
          <p:nvPr/>
        </p:nvSpPr>
        <p:spPr>
          <a:xfrm>
            <a:off x="0" y="4160520"/>
            <a:ext cx="9144000" cy="982981"/>
          </a:xfrm>
          <a:prstGeom prst="rect">
            <a:avLst/>
          </a:prstGeom>
          <a:solidFill>
            <a:srgbClr val="080F20"/>
          </a:solidFill>
          <a:ln w="12700">
            <a:solidFill>
              <a:srgbClr val="080F20"/>
            </a:solidFill>
          </a:ln>
        </p:spPr>
        <p:txBody>
          <a:bodyPr lIns="45719" rIns="45719"/>
          <a:lstStyle/>
          <a:p>
            <a:pPr/>
          </a:p>
        </p:txBody>
      </p:sp>
      <p:sp>
        <p:nvSpPr>
          <p:cNvPr id="22" name="Shape 2"/>
          <p:cNvSpPr/>
          <p:nvPr/>
        </p:nvSpPr>
        <p:spPr>
          <a:xfrm>
            <a:off x="0" y="4160520"/>
            <a:ext cx="6675119" cy="45721"/>
          </a:xfrm>
          <a:prstGeom prst="rect">
            <a:avLst/>
          </a:prstGeom>
          <a:solidFill>
            <a:srgbClr val="D4A017"/>
          </a:solidFill>
          <a:ln w="12700">
            <a:solidFill>
              <a:srgbClr val="D4A017"/>
            </a:solidFill>
          </a:ln>
        </p:spPr>
        <p:txBody>
          <a:bodyPr lIns="45719" rIns="45719"/>
          <a:lstStyle/>
          <a:p>
            <a:pPr/>
          </a:p>
        </p:txBody>
      </p:sp>
      <p:sp>
        <p:nvSpPr>
          <p:cNvPr id="23" name="Text 3"/>
          <p:cNvSpPr txBox="1"/>
          <p:nvPr/>
        </p:nvSpPr>
        <p:spPr>
          <a:xfrm>
            <a:off x="457200" y="290829"/>
            <a:ext cx="1737361" cy="561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D4A017"/>
                </a:solidFill>
                <a:latin typeface="Trebuchet MS"/>
                <a:ea typeface="Trebuchet MS"/>
                <a:cs typeface="Trebuchet MS"/>
                <a:sym typeface="Trebuchet MS"/>
              </a:defRPr>
            </a:lvl1pPr>
          </a:lstStyle>
          <a:p>
            <a:pPr/>
            <a:r>
              <a:t>ISMF</a:t>
            </a:r>
          </a:p>
        </p:txBody>
      </p:sp>
      <p:sp>
        <p:nvSpPr>
          <p:cNvPr id="24" name="Text 4"/>
          <p:cNvSpPr txBox="1"/>
          <p:nvPr/>
        </p:nvSpPr>
        <p:spPr>
          <a:xfrm>
            <a:off x="457200" y="884595"/>
            <a:ext cx="44805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8899BB"/>
                </a:solidFill>
              </a:defRPr>
            </a:lvl1pPr>
          </a:lstStyle>
          <a:p>
            <a:pPr/>
            <a:r>
              <a:t>Irish Student Managed Fund</a:t>
            </a:r>
          </a:p>
        </p:txBody>
      </p:sp>
      <p:sp>
        <p:nvSpPr>
          <p:cNvPr id="25" name="Text 5"/>
          <p:cNvSpPr txBox="1"/>
          <p:nvPr/>
        </p:nvSpPr>
        <p:spPr>
          <a:xfrm>
            <a:off x="457200" y="1289049"/>
            <a:ext cx="6035040" cy="942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5800">
                <a:solidFill>
                  <a:srgbClr val="FFFFFF"/>
                </a:solidFill>
                <a:latin typeface="Trebuchet MS"/>
                <a:ea typeface="Trebuchet MS"/>
                <a:cs typeface="Trebuchet MS"/>
                <a:sym typeface="Trebuchet MS"/>
              </a:defRPr>
            </a:lvl1pPr>
          </a:lstStyle>
          <a:p>
            <a:pPr/>
            <a:r>
              <a:t>MERLIN</a:t>
            </a:r>
          </a:p>
        </p:txBody>
      </p:sp>
      <p:sp>
        <p:nvSpPr>
          <p:cNvPr id="26" name="Text 6"/>
          <p:cNvSpPr txBox="1"/>
          <p:nvPr/>
        </p:nvSpPr>
        <p:spPr>
          <a:xfrm>
            <a:off x="457200" y="2095500"/>
            <a:ext cx="603504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600">
                <a:solidFill>
                  <a:srgbClr val="D4A017"/>
                </a:solidFill>
                <a:latin typeface="Trebuchet MS"/>
                <a:ea typeface="Trebuchet MS"/>
                <a:cs typeface="Trebuchet MS"/>
                <a:sym typeface="Trebuchet MS"/>
              </a:defRPr>
            </a:lvl1pPr>
          </a:lstStyle>
          <a:p>
            <a:pPr/>
            <a:r>
              <a:t>Properties SOCIMI, S.A.</a:t>
            </a:r>
          </a:p>
        </p:txBody>
      </p:sp>
      <p:sp>
        <p:nvSpPr>
          <p:cNvPr id="27" name="Shape 7"/>
          <p:cNvSpPr/>
          <p:nvPr/>
        </p:nvSpPr>
        <p:spPr>
          <a:xfrm>
            <a:off x="411480" y="2670048"/>
            <a:ext cx="1325881" cy="384049"/>
          </a:xfrm>
          <a:prstGeom prst="rect">
            <a:avLst/>
          </a:prstGeom>
          <a:solidFill>
            <a:srgbClr val="D4A017"/>
          </a:solidFill>
          <a:ln w="12700">
            <a:solidFill>
              <a:srgbClr val="D4A017"/>
            </a:solidFill>
          </a:ln>
        </p:spPr>
        <p:txBody>
          <a:bodyPr lIns="45719" rIns="45719"/>
          <a:lstStyle/>
          <a:p>
            <a:pPr/>
          </a:p>
        </p:txBody>
      </p:sp>
      <p:sp>
        <p:nvSpPr>
          <p:cNvPr id="28" name="Text 8"/>
          <p:cNvSpPr txBox="1"/>
          <p:nvPr/>
        </p:nvSpPr>
        <p:spPr>
          <a:xfrm>
            <a:off x="457200" y="2749218"/>
            <a:ext cx="123444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0D1B3E"/>
                </a:solidFill>
              </a:defRPr>
            </a:lvl1pPr>
          </a:lstStyle>
          <a:p>
            <a:pPr/>
            <a:r>
              <a:t>BME: MRL</a:t>
            </a:r>
          </a:p>
        </p:txBody>
      </p:sp>
      <p:sp>
        <p:nvSpPr>
          <p:cNvPr id="29" name="Text 9"/>
          <p:cNvSpPr txBox="1"/>
          <p:nvPr/>
        </p:nvSpPr>
        <p:spPr>
          <a:xfrm>
            <a:off x="457200" y="3181026"/>
            <a:ext cx="603504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9AAABB"/>
                </a:solidFill>
              </a:defRPr>
            </a:lvl1pPr>
          </a:lstStyle>
          <a:p>
            <a:pPr/>
            <a:r>
              <a:t>Iberia's Largest Listed Real Estate Company</a:t>
            </a:r>
          </a:p>
        </p:txBody>
      </p:sp>
      <p:sp>
        <p:nvSpPr>
          <p:cNvPr id="30" name="Text 10"/>
          <p:cNvSpPr txBox="1"/>
          <p:nvPr/>
        </p:nvSpPr>
        <p:spPr>
          <a:xfrm>
            <a:off x="6766560" y="719836"/>
            <a:ext cx="2240281" cy="3708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D4A017"/>
                </a:solidFill>
                <a:latin typeface="Trebuchet MS"/>
                <a:ea typeface="Trebuchet MS"/>
                <a:cs typeface="Trebuchet MS"/>
                <a:sym typeface="Trebuchet MS"/>
              </a:defRPr>
            </a:lvl1pPr>
          </a:lstStyle>
          <a:p>
            <a:pPr/>
            <a:r>
              <a:t>€11.5bn</a:t>
            </a:r>
          </a:p>
        </p:txBody>
      </p:sp>
      <p:sp>
        <p:nvSpPr>
          <p:cNvPr id="31" name="Text 11"/>
          <p:cNvSpPr txBox="1"/>
          <p:nvPr/>
        </p:nvSpPr>
        <p:spPr>
          <a:xfrm>
            <a:off x="6766560" y="1131483"/>
            <a:ext cx="224028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9AAABB"/>
                </a:solidFill>
              </a:defRPr>
            </a:lvl1pPr>
          </a:lstStyle>
          <a:p>
            <a:pPr/>
            <a:r>
              <a:t>Gross Asset Value</a:t>
            </a:r>
          </a:p>
        </p:txBody>
      </p:sp>
      <p:sp>
        <p:nvSpPr>
          <p:cNvPr id="32" name="Text 12"/>
          <p:cNvSpPr txBox="1"/>
          <p:nvPr/>
        </p:nvSpPr>
        <p:spPr>
          <a:xfrm>
            <a:off x="6766560" y="1707387"/>
            <a:ext cx="22402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D4A017"/>
                </a:solidFill>
                <a:latin typeface="Trebuchet MS"/>
                <a:ea typeface="Trebuchet MS"/>
                <a:cs typeface="Trebuchet MS"/>
                <a:sym typeface="Trebuchet MS"/>
              </a:defRPr>
            </a:lvl1pPr>
          </a:lstStyle>
          <a:p>
            <a:pPr/>
            <a:r>
              <a:t>€500.4m</a:t>
            </a:r>
          </a:p>
        </p:txBody>
      </p:sp>
      <p:sp>
        <p:nvSpPr>
          <p:cNvPr id="33" name="Text 13"/>
          <p:cNvSpPr txBox="1"/>
          <p:nvPr/>
        </p:nvSpPr>
        <p:spPr>
          <a:xfrm>
            <a:off x="6766560" y="2119035"/>
            <a:ext cx="224028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9AAABB"/>
                </a:solidFill>
              </a:defRPr>
            </a:lvl1pPr>
          </a:lstStyle>
          <a:p>
            <a:pPr/>
            <a:r>
              <a:t>FY2024 Gross Rents</a:t>
            </a:r>
          </a:p>
        </p:txBody>
      </p:sp>
      <p:sp>
        <p:nvSpPr>
          <p:cNvPr id="34" name="Text 14"/>
          <p:cNvSpPr txBox="1"/>
          <p:nvPr/>
        </p:nvSpPr>
        <p:spPr>
          <a:xfrm>
            <a:off x="6766560" y="2694940"/>
            <a:ext cx="22402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D4A017"/>
                </a:solidFill>
                <a:latin typeface="Trebuchet MS"/>
                <a:ea typeface="Trebuchet MS"/>
                <a:cs typeface="Trebuchet MS"/>
                <a:sym typeface="Trebuchet MS"/>
              </a:defRPr>
            </a:lvl1pPr>
          </a:lstStyle>
          <a:p>
            <a:pPr/>
            <a:r>
              <a:t>96.7%</a:t>
            </a:r>
          </a:p>
        </p:txBody>
      </p:sp>
      <p:sp>
        <p:nvSpPr>
          <p:cNvPr id="35" name="Text 15"/>
          <p:cNvSpPr txBox="1"/>
          <p:nvPr/>
        </p:nvSpPr>
        <p:spPr>
          <a:xfrm>
            <a:off x="6766560" y="3106587"/>
            <a:ext cx="224028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9AAABB"/>
                </a:solidFill>
              </a:defRPr>
            </a:lvl1pPr>
          </a:lstStyle>
          <a:p>
            <a:pPr/>
            <a:r>
              <a:t>Portfolio Occupancy</a:t>
            </a:r>
          </a:p>
        </p:txBody>
      </p:sp>
      <p:sp>
        <p:nvSpPr>
          <p:cNvPr id="36" name="Text 16"/>
          <p:cNvSpPr txBox="1"/>
          <p:nvPr/>
        </p:nvSpPr>
        <p:spPr>
          <a:xfrm>
            <a:off x="6766560" y="3682491"/>
            <a:ext cx="22402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D4A017"/>
                </a:solidFill>
                <a:latin typeface="Trebuchet MS"/>
                <a:ea typeface="Trebuchet MS"/>
                <a:cs typeface="Trebuchet MS"/>
                <a:sym typeface="Trebuchet MS"/>
              </a:defRPr>
            </a:lvl1pPr>
          </a:lstStyle>
          <a:p>
            <a:pPr/>
            <a:r>
              <a:t>BBB+ / Baa1</a:t>
            </a:r>
          </a:p>
        </p:txBody>
      </p:sp>
      <p:sp>
        <p:nvSpPr>
          <p:cNvPr id="37" name="Text 17"/>
          <p:cNvSpPr txBox="1"/>
          <p:nvPr/>
        </p:nvSpPr>
        <p:spPr>
          <a:xfrm>
            <a:off x="6766560" y="4094139"/>
            <a:ext cx="224028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9AAABB"/>
                </a:solidFill>
              </a:defRPr>
            </a:lvl1pPr>
          </a:lstStyle>
          <a:p>
            <a:pPr/>
            <a:r>
              <a:t>S&amp;P / Moody's Rating</a:t>
            </a:r>
          </a:p>
        </p:txBody>
      </p:sp>
      <p:sp>
        <p:nvSpPr>
          <p:cNvPr id="38" name="Text 18"/>
          <p:cNvSpPr txBox="1"/>
          <p:nvPr/>
        </p:nvSpPr>
        <p:spPr>
          <a:xfrm>
            <a:off x="411479" y="4309023"/>
            <a:ext cx="8138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667788"/>
                </a:solidFill>
              </a:defRPr>
            </a:lvl1pPr>
          </a:lstStyle>
          <a:p>
            <a:pPr/>
            <a:r>
              <a:t>Equity Analyst: Hannan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40"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41"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Sector Overview</a:t>
            </a:r>
          </a:p>
        </p:txBody>
      </p:sp>
      <p:sp>
        <p:nvSpPr>
          <p:cNvPr id="42"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43"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44"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45"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Overview</a:t>
            </a:r>
          </a:p>
        </p:txBody>
      </p:sp>
      <p:sp>
        <p:nvSpPr>
          <p:cNvPr id="46" name="Shape 6"/>
          <p:cNvSpPr/>
          <p:nvPr/>
        </p:nvSpPr>
        <p:spPr>
          <a:xfrm>
            <a:off x="1458467" y="5084064"/>
            <a:ext cx="832104" cy="36577"/>
          </a:xfrm>
          <a:prstGeom prst="rect">
            <a:avLst/>
          </a:prstGeom>
          <a:solidFill>
            <a:srgbClr val="D4A017"/>
          </a:solidFill>
          <a:ln w="12700">
            <a:solidFill>
              <a:srgbClr val="D4A017"/>
            </a:solidFill>
          </a:ln>
        </p:spPr>
        <p:txBody>
          <a:bodyPr lIns="45719" rIns="45719"/>
          <a:lstStyle/>
          <a:p>
            <a:pPr/>
          </a:p>
        </p:txBody>
      </p:sp>
      <p:sp>
        <p:nvSpPr>
          <p:cNvPr id="47" name="Text 7"/>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48" name="Text 8"/>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49" name="Text 9"/>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50" name="Text 10"/>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Risks</a:t>
            </a:r>
          </a:p>
        </p:txBody>
      </p:sp>
      <p:sp>
        <p:nvSpPr>
          <p:cNvPr id="51"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2</a:t>
            </a:r>
          </a:p>
        </p:txBody>
      </p:sp>
      <p:sp>
        <p:nvSpPr>
          <p:cNvPr id="52" name="Text 12"/>
          <p:cNvSpPr txBox="1"/>
          <p:nvPr/>
        </p:nvSpPr>
        <p:spPr>
          <a:xfrm>
            <a:off x="365759" y="779779"/>
            <a:ext cx="38404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Market Size &amp; Growth</a:t>
            </a:r>
          </a:p>
        </p:txBody>
      </p:sp>
      <p:sp>
        <p:nvSpPr>
          <p:cNvPr id="53" name="Shape 13"/>
          <p:cNvSpPr/>
          <p:nvPr/>
        </p:nvSpPr>
        <p:spPr>
          <a:xfrm>
            <a:off x="320039" y="1042416"/>
            <a:ext cx="3931922" cy="22861"/>
          </a:xfrm>
          <a:prstGeom prst="rect">
            <a:avLst/>
          </a:prstGeom>
          <a:solidFill>
            <a:srgbClr val="D4A017"/>
          </a:solidFill>
          <a:ln w="12700">
            <a:solidFill>
              <a:srgbClr val="D4A017"/>
            </a:solidFill>
          </a:ln>
        </p:spPr>
        <p:txBody>
          <a:bodyPr lIns="45719" rIns="45719"/>
          <a:lstStyle/>
          <a:p>
            <a:pPr/>
          </a:p>
        </p:txBody>
      </p:sp>
      <p:sp>
        <p:nvSpPr>
          <p:cNvPr id="54" name="Text 14"/>
          <p:cNvSpPr txBox="1"/>
          <p:nvPr/>
        </p:nvSpPr>
        <p:spPr>
          <a:xfrm>
            <a:off x="365759" y="1161288"/>
            <a:ext cx="3840482"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European Real Estate Market: </a:t>
            </a:r>
            <a:r>
              <a:rPr b="0">
                <a:solidFill>
                  <a:srgbClr val="445060"/>
                </a:solidFill>
              </a:rPr>
              <a:t>The European commercial real estate market is valued at approximately €11 trillion in assets. Spain is among the fastest-recovering markets, driven by tourism, nearshoring and AI investment.</a:t>
            </a:r>
          </a:p>
        </p:txBody>
      </p:sp>
      <p:sp>
        <p:nvSpPr>
          <p:cNvPr id="55" name="Text 15"/>
          <p:cNvSpPr txBox="1"/>
          <p:nvPr/>
        </p:nvSpPr>
        <p:spPr>
          <a:xfrm>
            <a:off x="365759" y="1984248"/>
            <a:ext cx="3840482"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Spain's SOCIMI Framework: </a:t>
            </a:r>
            <a:r>
              <a:rPr b="0">
                <a:solidFill>
                  <a:srgbClr val="445060"/>
                </a:solidFill>
              </a:rPr>
              <a:t>SOCIMIs (Spain's REIT equivalent) enjoy near-zero corporate tax in exchange for distributing 80%+ of profits as dividends. Merlin is the largest SOCIMI by assets, listed on the IBEX 35.</a:t>
            </a:r>
          </a:p>
        </p:txBody>
      </p:sp>
      <p:sp>
        <p:nvSpPr>
          <p:cNvPr id="56" name="Text 16"/>
          <p:cNvSpPr txBox="1"/>
          <p:nvPr/>
        </p:nvSpPr>
        <p:spPr>
          <a:xfrm>
            <a:off x="4663439" y="779779"/>
            <a:ext cx="411480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Competitive Landscape</a:t>
            </a:r>
          </a:p>
        </p:txBody>
      </p:sp>
      <p:sp>
        <p:nvSpPr>
          <p:cNvPr id="57" name="Shape 17"/>
          <p:cNvSpPr/>
          <p:nvPr/>
        </p:nvSpPr>
        <p:spPr>
          <a:xfrm>
            <a:off x="4617719" y="1042416"/>
            <a:ext cx="4206242" cy="22861"/>
          </a:xfrm>
          <a:prstGeom prst="rect">
            <a:avLst/>
          </a:prstGeom>
          <a:solidFill>
            <a:srgbClr val="D4A017"/>
          </a:solidFill>
          <a:ln w="12700">
            <a:solidFill>
              <a:srgbClr val="D4A017"/>
            </a:solidFill>
          </a:ln>
        </p:spPr>
        <p:txBody>
          <a:bodyPr lIns="45719" rIns="45719"/>
          <a:lstStyle/>
          <a:p>
            <a:pPr/>
          </a:p>
        </p:txBody>
      </p:sp>
      <p:sp>
        <p:nvSpPr>
          <p:cNvPr id="58" name="Text 18"/>
          <p:cNvSpPr txBox="1"/>
          <p:nvPr/>
        </p:nvSpPr>
        <p:spPr>
          <a:xfrm>
            <a:off x="4663439" y="1161288"/>
            <a:ext cx="4114802"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Dominant Iberian Position: </a:t>
            </a:r>
            <a:r>
              <a:rPr b="0">
                <a:solidFill>
                  <a:srgbClr val="445060"/>
                </a:solidFill>
              </a:rPr>
              <a:t>Merlin holds prime Grade A assets across Madrid, Barcelona and Lisbon — cities with structural supply constraints and persistently rising rents.</a:t>
            </a:r>
          </a:p>
        </p:txBody>
      </p:sp>
      <p:sp>
        <p:nvSpPr>
          <p:cNvPr id="59" name="Text 19"/>
          <p:cNvSpPr txBox="1"/>
          <p:nvPr/>
        </p:nvSpPr>
        <p:spPr>
          <a:xfrm>
            <a:off x="4663439" y="1984248"/>
            <a:ext cx="4114802"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Key Peers: </a:t>
            </a:r>
            <a:r>
              <a:rPr b="0">
                <a:solidFill>
                  <a:srgbClr val="445060"/>
                </a:solidFill>
              </a:rPr>
              <a:t>Inmobiliaria Colonial (Spain), Covivio (France/Italy/Germany), Tritax Big Box REIT (UK) and British Land are the primary European commercial REIT competitors.</a:t>
            </a:r>
          </a:p>
        </p:txBody>
      </p:sp>
      <p:sp>
        <p:nvSpPr>
          <p:cNvPr id="60" name="Text 20"/>
          <p:cNvSpPr txBox="1"/>
          <p:nvPr/>
        </p:nvSpPr>
        <p:spPr>
          <a:xfrm>
            <a:off x="365760" y="2828035"/>
            <a:ext cx="841248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Key Trends &amp; Drivers</a:t>
            </a:r>
          </a:p>
        </p:txBody>
      </p:sp>
      <p:sp>
        <p:nvSpPr>
          <p:cNvPr id="61" name="Shape 21"/>
          <p:cNvSpPr/>
          <p:nvPr/>
        </p:nvSpPr>
        <p:spPr>
          <a:xfrm>
            <a:off x="320040" y="3090672"/>
            <a:ext cx="8503920" cy="22861"/>
          </a:xfrm>
          <a:prstGeom prst="rect">
            <a:avLst/>
          </a:prstGeom>
          <a:solidFill>
            <a:srgbClr val="D4A017"/>
          </a:solidFill>
          <a:ln w="12700">
            <a:solidFill>
              <a:srgbClr val="D4A017"/>
            </a:solidFill>
          </a:ln>
        </p:spPr>
        <p:txBody>
          <a:bodyPr lIns="45719" rIns="45719"/>
          <a:lstStyle/>
          <a:p>
            <a:pPr/>
          </a:p>
        </p:txBody>
      </p:sp>
      <p:sp>
        <p:nvSpPr>
          <p:cNvPr id="62" name="Text 22"/>
          <p:cNvSpPr txBox="1"/>
          <p:nvPr/>
        </p:nvSpPr>
        <p:spPr>
          <a:xfrm>
            <a:off x="365760" y="3182111"/>
            <a:ext cx="8412480" cy="7238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AI &amp; Data Centers: </a:t>
            </a:r>
            <a:r>
              <a:rPr b="0">
                <a:solidFill>
                  <a:srgbClr val="445060"/>
                </a:solidFill>
              </a:rPr>
              <a:t>Hyperscaler demand for colocation is surging. Iberia has emerged as a hub due to power availability, Atlantic cable connectivity, and favourable climate. Merlin's MEGA Plan positions it as the leading Spanish REIT in this space.   </a:t>
            </a:r>
            <a:r>
              <a:t>Logistics Boom: </a:t>
            </a:r>
            <a:r>
              <a:rPr b="0">
                <a:solidFill>
                  <a:srgbClr val="445060"/>
                </a:solidFill>
              </a:rPr>
              <a:t>E-commerce and supply chain nearshoring are driving sustained demand for last-mile logistics, with Merlin's portfolio achieving 99.4% occupancy in FY2024.   </a:t>
            </a:r>
            <a:r>
              <a:t>SOCIMI Tax Reform Risk: </a:t>
            </a:r>
            <a:r>
              <a:rPr b="0">
                <a:solidFill>
                  <a:srgbClr val="445060"/>
                </a:solidFill>
              </a:rPr>
              <a:t>The Spanish coalition government has proposed reforms to the SOCIMI tax regime, creating regulatory uncertainty across the sector.</a:t>
            </a:r>
          </a:p>
        </p:txBody>
      </p:sp>
      <p:sp>
        <p:nvSpPr>
          <p:cNvPr id="63" name="Text 23"/>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IR, EPRA, JLL, Savills, CBRE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65"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66"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Company Overview</a:t>
            </a:r>
          </a:p>
        </p:txBody>
      </p:sp>
      <p:sp>
        <p:nvSpPr>
          <p:cNvPr id="67"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68"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69"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70"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Overview</a:t>
            </a:r>
          </a:p>
        </p:txBody>
      </p:sp>
      <p:sp>
        <p:nvSpPr>
          <p:cNvPr id="71" name="Shape 6"/>
          <p:cNvSpPr/>
          <p:nvPr/>
        </p:nvSpPr>
        <p:spPr>
          <a:xfrm>
            <a:off x="1458467" y="5084064"/>
            <a:ext cx="832104" cy="36577"/>
          </a:xfrm>
          <a:prstGeom prst="rect">
            <a:avLst/>
          </a:prstGeom>
          <a:solidFill>
            <a:srgbClr val="D4A017"/>
          </a:solidFill>
          <a:ln w="12700">
            <a:solidFill>
              <a:srgbClr val="D4A017"/>
            </a:solidFill>
          </a:ln>
        </p:spPr>
        <p:txBody>
          <a:bodyPr lIns="45719" rIns="45719"/>
          <a:lstStyle/>
          <a:p>
            <a:pPr/>
          </a:p>
        </p:txBody>
      </p:sp>
      <p:sp>
        <p:nvSpPr>
          <p:cNvPr id="72" name="Text 7"/>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73" name="Text 8"/>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74" name="Text 9"/>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75" name="Text 10"/>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Risks</a:t>
            </a:r>
          </a:p>
        </p:txBody>
      </p:sp>
      <p:sp>
        <p:nvSpPr>
          <p:cNvPr id="76"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3</a:t>
            </a:r>
          </a:p>
        </p:txBody>
      </p:sp>
      <p:sp>
        <p:nvSpPr>
          <p:cNvPr id="77" name="Text 12"/>
          <p:cNvSpPr txBox="1"/>
          <p:nvPr/>
        </p:nvSpPr>
        <p:spPr>
          <a:xfrm>
            <a:off x="365759" y="779779"/>
            <a:ext cx="393192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Business Lines (by GAV, FY2024)</a:t>
            </a:r>
          </a:p>
        </p:txBody>
      </p:sp>
      <p:sp>
        <p:nvSpPr>
          <p:cNvPr id="78" name="Shape 13"/>
          <p:cNvSpPr/>
          <p:nvPr/>
        </p:nvSpPr>
        <p:spPr>
          <a:xfrm>
            <a:off x="320039" y="1042416"/>
            <a:ext cx="4023361" cy="22861"/>
          </a:xfrm>
          <a:prstGeom prst="rect">
            <a:avLst/>
          </a:prstGeom>
          <a:solidFill>
            <a:srgbClr val="D4A017"/>
          </a:solidFill>
          <a:ln w="12700">
            <a:solidFill>
              <a:srgbClr val="D4A017"/>
            </a:solidFill>
          </a:ln>
        </p:spPr>
        <p:txBody>
          <a:bodyPr lIns="45719" rIns="45719"/>
          <a:lstStyle/>
          <a:p>
            <a:pPr/>
          </a:p>
        </p:txBody>
      </p:sp>
      <p:sp>
        <p:nvSpPr>
          <p:cNvPr id="79" name="Text 14"/>
          <p:cNvSpPr txBox="1"/>
          <p:nvPr/>
        </p:nvSpPr>
        <p:spPr>
          <a:xfrm>
            <a:off x="365759" y="1161288"/>
            <a:ext cx="3931921"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0D1B3E"/>
                </a:solidFill>
              </a:defRPr>
            </a:pPr>
            <a:r>
              <a:t>Offices (~57% of GAV):  </a:t>
            </a:r>
            <a:r>
              <a:rPr b="0">
                <a:solidFill>
                  <a:srgbClr val="445060"/>
                </a:solidFill>
              </a:rPr>
              <a:t>Prime Grade A assets in Madrid, Barcelona and Lisbon. Record 93.7% occupancy in FY2024 with +3.9% like-for-like rental growth. Dominant position in the Madrid CBD.</a:t>
            </a:r>
          </a:p>
        </p:txBody>
      </p:sp>
      <p:sp>
        <p:nvSpPr>
          <p:cNvPr id="80" name="Text 15"/>
          <p:cNvSpPr txBox="1"/>
          <p:nvPr/>
        </p:nvSpPr>
        <p:spPr>
          <a:xfrm>
            <a:off x="365759" y="1801367"/>
            <a:ext cx="3931921"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0D1B3E"/>
                </a:solidFill>
              </a:defRPr>
            </a:pPr>
            <a:r>
              <a:t>Shopping Centres (~18% of GAV):  </a:t>
            </a:r>
            <a:r>
              <a:rPr b="0">
                <a:solidFill>
                  <a:srgbClr val="445060"/>
                </a:solidFill>
              </a:rPr>
              <a:t>Flagship retail assets incl. Marineda (A Coruña) and Porto Pi. Gross rents of €126.8m in FY2024, +2.7% LfL, 96.5% occupancy and all-time low OCR of 11.2%.</a:t>
            </a:r>
          </a:p>
        </p:txBody>
      </p:sp>
      <p:sp>
        <p:nvSpPr>
          <p:cNvPr id="81" name="Text 16"/>
          <p:cNvSpPr txBox="1"/>
          <p:nvPr/>
        </p:nvSpPr>
        <p:spPr>
          <a:xfrm>
            <a:off x="365759" y="2441448"/>
            <a:ext cx="3931921"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0D1B3E"/>
                </a:solidFill>
              </a:defRPr>
            </a:pPr>
            <a:r>
              <a:t>Logistics (~16% of GAV):  </a:t>
            </a:r>
            <a:r>
              <a:rPr b="0">
                <a:solidFill>
                  <a:srgbClr val="445060"/>
                </a:solidFill>
              </a:rPr>
              <a:t>3.17M sqm of warehouses across Spain and Portugal. FY2024 rents €83.7m at an all-time high occupancy of 99.4%. Landbank of 511,000 sqm for future development.</a:t>
            </a:r>
          </a:p>
        </p:txBody>
      </p:sp>
      <p:sp>
        <p:nvSpPr>
          <p:cNvPr id="82" name="Text 17"/>
          <p:cNvSpPr txBox="1"/>
          <p:nvPr/>
        </p:nvSpPr>
        <p:spPr>
          <a:xfrm>
            <a:off x="365759" y="3081527"/>
            <a:ext cx="3931921"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0D1B3E"/>
                </a:solidFill>
              </a:defRPr>
            </a:pPr>
            <a:r>
              <a:t>Data Centres (~4.5% of GAV, rapidly growing):  </a:t>
            </a:r>
            <a:r>
              <a:rPr b="0">
                <a:solidFill>
                  <a:srgbClr val="445060"/>
                </a:solidFill>
              </a:rPr>
              <a:t>MEGA Plan Phase I: 64 MW across 3 operational sites (Madrid-Getafe, Barcelona, Bilbao). 21.2 MW let as of FY2024; data centre GAV rose +16.9% YoY.</a:t>
            </a:r>
          </a:p>
        </p:txBody>
      </p:sp>
      <p:sp>
        <p:nvSpPr>
          <p:cNvPr id="83" name="Text 18"/>
          <p:cNvSpPr txBox="1"/>
          <p:nvPr/>
        </p:nvSpPr>
        <p:spPr>
          <a:xfrm>
            <a:off x="4663439" y="779779"/>
            <a:ext cx="411480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Ownership &amp; Listing</a:t>
            </a:r>
          </a:p>
        </p:txBody>
      </p:sp>
      <p:sp>
        <p:nvSpPr>
          <p:cNvPr id="84" name="Shape 19"/>
          <p:cNvSpPr/>
          <p:nvPr/>
        </p:nvSpPr>
        <p:spPr>
          <a:xfrm>
            <a:off x="4617719" y="1042416"/>
            <a:ext cx="4206242" cy="22861"/>
          </a:xfrm>
          <a:prstGeom prst="rect">
            <a:avLst/>
          </a:prstGeom>
          <a:solidFill>
            <a:srgbClr val="D4A017"/>
          </a:solidFill>
          <a:ln w="12700">
            <a:solidFill>
              <a:srgbClr val="D4A017"/>
            </a:solidFill>
          </a:ln>
        </p:spPr>
        <p:txBody>
          <a:bodyPr lIns="45719" rIns="45719"/>
          <a:lstStyle/>
          <a:p>
            <a:pPr/>
          </a:p>
        </p:txBody>
      </p:sp>
      <p:sp>
        <p:nvSpPr>
          <p:cNvPr id="85" name="Text 20"/>
          <p:cNvSpPr txBox="1"/>
          <p:nvPr/>
        </p:nvSpPr>
        <p:spPr>
          <a:xfrm>
            <a:off x="4663439" y="1161288"/>
            <a:ext cx="4114802"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Listed SOCIMI: </a:t>
            </a:r>
            <a:r>
              <a:rPr b="0">
                <a:solidFill>
                  <a:srgbClr val="445060"/>
                </a:solidFill>
              </a:rPr>
              <a:t>Listed on the Madrid Stock Exchange (BME: MRL) and is an IBEX 35 constituent. Also included in Euro STOXX 600, FTSE EPRA/NAREIT and MSCI indices.</a:t>
            </a:r>
          </a:p>
        </p:txBody>
      </p:sp>
      <p:sp>
        <p:nvSpPr>
          <p:cNvPr id="86" name="Text 21"/>
          <p:cNvSpPr txBox="1"/>
          <p:nvPr/>
        </p:nvSpPr>
        <p:spPr>
          <a:xfrm>
            <a:off x="4663439" y="1801367"/>
            <a:ext cx="4114802"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Shareholder Base: </a:t>
            </a:r>
            <a:r>
              <a:rPr b="0">
                <a:solidFill>
                  <a:srgbClr val="445060"/>
                </a:solidFill>
              </a:rPr>
              <a:t>Broad institutional base. Key shareholders include BlackRock, Vanguard, DWS and Norges Bank. Free float is approximately 100% with no controlling shareholder.</a:t>
            </a:r>
          </a:p>
        </p:txBody>
      </p:sp>
      <p:sp>
        <p:nvSpPr>
          <p:cNvPr id="87" name="Text 22"/>
          <p:cNvSpPr txBox="1"/>
          <p:nvPr/>
        </p:nvSpPr>
        <p:spPr>
          <a:xfrm>
            <a:off x="4663439" y="2441448"/>
            <a:ext cx="4114802" cy="3936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Market Cap &amp; NAV: </a:t>
            </a:r>
            <a:r>
              <a:rPr b="0">
                <a:solidFill>
                  <a:srgbClr val="445060"/>
                </a:solidFill>
              </a:rPr>
              <a:t>Market cap ~€7bn. EPRA NTA of €14.32/share (FY2024) implying shares trade at a ~13% discount to independently appraised NAV.</a:t>
            </a:r>
          </a:p>
        </p:txBody>
      </p:sp>
      <p:sp>
        <p:nvSpPr>
          <p:cNvPr id="88" name="Text 23"/>
          <p:cNvSpPr txBox="1"/>
          <p:nvPr/>
        </p:nvSpPr>
        <p:spPr>
          <a:xfrm>
            <a:off x="4663439" y="3358387"/>
            <a:ext cx="411480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Future Strategies</a:t>
            </a:r>
          </a:p>
        </p:txBody>
      </p:sp>
      <p:sp>
        <p:nvSpPr>
          <p:cNvPr id="89" name="Shape 24"/>
          <p:cNvSpPr/>
          <p:nvPr/>
        </p:nvSpPr>
        <p:spPr>
          <a:xfrm>
            <a:off x="4617719" y="3621023"/>
            <a:ext cx="4206242" cy="22861"/>
          </a:xfrm>
          <a:prstGeom prst="rect">
            <a:avLst/>
          </a:prstGeom>
          <a:solidFill>
            <a:srgbClr val="D4A017"/>
          </a:solidFill>
          <a:ln w="12700">
            <a:solidFill>
              <a:srgbClr val="D4A017"/>
            </a:solidFill>
          </a:ln>
        </p:spPr>
        <p:txBody>
          <a:bodyPr lIns="45719" rIns="45719"/>
          <a:lstStyle/>
          <a:p>
            <a:pPr/>
          </a:p>
        </p:txBody>
      </p:sp>
      <p:sp>
        <p:nvSpPr>
          <p:cNvPr id="90" name="Text 25"/>
          <p:cNvSpPr txBox="1"/>
          <p:nvPr/>
        </p:nvSpPr>
        <p:spPr>
          <a:xfrm>
            <a:off x="4663439" y="3730752"/>
            <a:ext cx="4114802"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MEGA Plan (Data Centres): </a:t>
            </a:r>
            <a:r>
              <a:rPr b="0">
                <a:solidFill>
                  <a:srgbClr val="445060"/>
                </a:solidFill>
              </a:rPr>
              <a:t>Phase II targets 203 additional MW across Bilbao (ARA-02), Lisbon (VFX-01 &amp; 02) and two new Madrid sites (~130 MW potential). Data centres targeted at ~40% of revenue by 2030.</a:t>
            </a:r>
          </a:p>
        </p:txBody>
      </p:sp>
      <p:sp>
        <p:nvSpPr>
          <p:cNvPr id="91" name="Text 26"/>
          <p:cNvSpPr txBox="1"/>
          <p:nvPr/>
        </p:nvSpPr>
        <p:spPr>
          <a:xfrm>
            <a:off x="4663439" y="4297679"/>
            <a:ext cx="4114802"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Asset Rotation: </a:t>
            </a:r>
            <a:r>
              <a:rPr b="0">
                <a:solidFill>
                  <a:srgbClr val="445060"/>
                </a:solidFill>
              </a:rPr>
              <a:t>Selective disposal of non-core assets (€183.3m signed at a premium to GAV) to fund CapEx for high-yield data centre and logistics developments.</a:t>
            </a:r>
          </a:p>
        </p:txBody>
      </p:sp>
      <p:sp>
        <p:nvSpPr>
          <p:cNvPr id="92" name="Text 27"/>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IR FY2024, Annual Report 2024, MarketScreener</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94"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95"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Financial Performance</a:t>
            </a:r>
          </a:p>
        </p:txBody>
      </p:sp>
      <p:sp>
        <p:nvSpPr>
          <p:cNvPr id="96"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97"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98"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99"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Overview</a:t>
            </a:r>
          </a:p>
        </p:txBody>
      </p:sp>
      <p:sp>
        <p:nvSpPr>
          <p:cNvPr id="100" name="Text 6"/>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Financial Performance</a:t>
            </a:r>
          </a:p>
        </p:txBody>
      </p:sp>
      <p:sp>
        <p:nvSpPr>
          <p:cNvPr id="101" name="Shape 7"/>
          <p:cNvSpPr/>
          <p:nvPr/>
        </p:nvSpPr>
        <p:spPr>
          <a:xfrm>
            <a:off x="2930651" y="5084064"/>
            <a:ext cx="1088137" cy="36577"/>
          </a:xfrm>
          <a:prstGeom prst="rect">
            <a:avLst/>
          </a:prstGeom>
          <a:solidFill>
            <a:srgbClr val="D4A017"/>
          </a:solidFill>
          <a:ln w="12700">
            <a:solidFill>
              <a:srgbClr val="D4A017"/>
            </a:solidFill>
          </a:ln>
        </p:spPr>
        <p:txBody>
          <a:bodyPr lIns="45719" rIns="45719"/>
          <a:lstStyle/>
          <a:p>
            <a:pPr/>
          </a:p>
        </p:txBody>
      </p:sp>
      <p:sp>
        <p:nvSpPr>
          <p:cNvPr id="102" name="Text 8"/>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103" name="Text 9"/>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104" name="Text 10"/>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Risks</a:t>
            </a:r>
          </a:p>
        </p:txBody>
      </p:sp>
      <p:sp>
        <p:nvSpPr>
          <p:cNvPr id="105"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4</a:t>
            </a:r>
          </a:p>
        </p:txBody>
      </p:sp>
      <p:sp>
        <p:nvSpPr>
          <p:cNvPr id="106" name="Text 12"/>
          <p:cNvSpPr txBox="1"/>
          <p:nvPr/>
        </p:nvSpPr>
        <p:spPr>
          <a:xfrm>
            <a:off x="320039" y="779779"/>
            <a:ext cx="47548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Key Metrics (€ millions unless stated)</a:t>
            </a:r>
          </a:p>
        </p:txBody>
      </p:sp>
      <p:sp>
        <p:nvSpPr>
          <p:cNvPr id="107" name="Shape 13"/>
          <p:cNvSpPr/>
          <p:nvPr/>
        </p:nvSpPr>
        <p:spPr>
          <a:xfrm>
            <a:off x="274319" y="1042416"/>
            <a:ext cx="4846322" cy="22861"/>
          </a:xfrm>
          <a:prstGeom prst="rect">
            <a:avLst/>
          </a:prstGeom>
          <a:solidFill>
            <a:srgbClr val="D4A017"/>
          </a:solidFill>
          <a:ln w="12700">
            <a:solidFill>
              <a:srgbClr val="D4A017"/>
            </a:solidFill>
          </a:ln>
        </p:spPr>
        <p:txBody>
          <a:bodyPr lIns="45719" rIns="45719"/>
          <a:lstStyle/>
          <a:p>
            <a:pPr/>
          </a:p>
        </p:txBody>
      </p:sp>
      <p:graphicFrame>
        <p:nvGraphicFramePr>
          <p:cNvPr id="108" name="Table 0"/>
          <p:cNvGraphicFramePr/>
          <p:nvPr/>
        </p:nvGraphicFramePr>
        <p:xfrm>
          <a:off x="274320" y="1133855"/>
          <a:ext cx="4846321" cy="283464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28800"/>
                <a:gridCol w="777240"/>
                <a:gridCol w="777240"/>
                <a:gridCol w="777240"/>
                <a:gridCol w="685800"/>
              </a:tblGrid>
              <a:tr h="283464">
                <a:tc>
                  <a:txBody>
                    <a:bodyPr/>
                    <a:lstStyle/>
                    <a:p>
                      <a:pPr algn="l">
                        <a:defRPr sz="1800"/>
                      </a:pPr>
                      <a:r>
                        <a:rPr b="1" sz="900">
                          <a:solidFill>
                            <a:srgbClr val="FFFFFF"/>
                          </a:solidFill>
                        </a:rPr>
                        <a:t>Metric</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FY2024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FY2023</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FY2022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YoY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r>
              <a:tr h="283464">
                <a:tc>
                  <a:txBody>
                    <a:bodyPr/>
                    <a:lstStyle/>
                    <a:p>
                      <a:pPr algn="l">
                        <a:defRPr sz="1800"/>
                      </a:pPr>
                      <a:r>
                        <a:rPr sz="900"/>
                        <a:t>Gross Rents (€m)</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500.4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475.6</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437.0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+5.2%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Total Revenue (€m)</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516.7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488.3</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450.1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+5.8%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EBITDA (€m)</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379.2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367.0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342.0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+3.3%</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FFO (€m)</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310.8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284.2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259.0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+9.4%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FFO per share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0.61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B22222"/>
                          </a:solidFill>
                        </a:rPr>
                        <a:t>-9.8%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EPRA NTA/share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14.32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15.08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16.10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B22222"/>
                          </a:solidFill>
                        </a:rPr>
                        <a:t>-5.0%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Occupancy Rate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96.7%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96.2%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95.1%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+50bps</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LfL Rent Growth</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+6.5%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LTV</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28.3%</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35.0%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36.0%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900">
                          <a:solidFill>
                            <a:srgbClr val="1E7A3A"/>
                          </a:solidFill>
                        </a:rPr>
                        <a:t>-670bps</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bl>
          </a:graphicData>
        </a:graphic>
      </p:graphicFrame>
      <p:sp>
        <p:nvSpPr>
          <p:cNvPr id="109" name="Text 14"/>
          <p:cNvSpPr txBox="1"/>
          <p:nvPr/>
        </p:nvSpPr>
        <p:spPr>
          <a:xfrm>
            <a:off x="5367528" y="779779"/>
            <a:ext cx="347472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Peer Analysis</a:t>
            </a:r>
          </a:p>
        </p:txBody>
      </p:sp>
      <p:sp>
        <p:nvSpPr>
          <p:cNvPr id="110" name="Shape 15"/>
          <p:cNvSpPr/>
          <p:nvPr/>
        </p:nvSpPr>
        <p:spPr>
          <a:xfrm>
            <a:off x="5321808" y="1042416"/>
            <a:ext cx="3566160" cy="22861"/>
          </a:xfrm>
          <a:prstGeom prst="rect">
            <a:avLst/>
          </a:prstGeom>
          <a:solidFill>
            <a:srgbClr val="D4A017"/>
          </a:solidFill>
          <a:ln w="12700">
            <a:solidFill>
              <a:srgbClr val="D4A017"/>
            </a:solidFill>
          </a:ln>
        </p:spPr>
        <p:txBody>
          <a:bodyPr lIns="45719" rIns="45719"/>
          <a:lstStyle/>
          <a:p>
            <a:pPr/>
          </a:p>
        </p:txBody>
      </p:sp>
      <p:graphicFrame>
        <p:nvGraphicFramePr>
          <p:cNvPr id="111" name="Table 1"/>
          <p:cNvGraphicFramePr/>
          <p:nvPr/>
        </p:nvGraphicFramePr>
        <p:xfrm>
          <a:off x="5321808" y="1133855"/>
          <a:ext cx="3566161" cy="14173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80160"/>
                <a:gridCol w="822960"/>
                <a:gridCol w="822960"/>
                <a:gridCol w="640080"/>
              </a:tblGrid>
              <a:tr h="283464">
                <a:tc>
                  <a:txBody>
                    <a:bodyPr/>
                    <a:lstStyle/>
                    <a:p>
                      <a:pPr algn="l">
                        <a:defRPr sz="1800"/>
                      </a:pPr>
                      <a:r>
                        <a:rPr b="1" sz="900">
                          <a:solidFill>
                            <a:srgbClr val="FFFFFF"/>
                          </a:solidFill>
                        </a:rPr>
                        <a:t>Company</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Mkt Cap</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FFO Yield</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LTV</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r>
              <a:tr h="283464">
                <a:tc>
                  <a:txBody>
                    <a:bodyPr/>
                    <a:lstStyle/>
                    <a:p>
                      <a:pPr algn="l">
                        <a:defRPr sz="1800"/>
                      </a:pPr>
                      <a:r>
                        <a:rPr b="1" sz="900">
                          <a:solidFill>
                            <a:srgbClr val="0D1B3E"/>
                          </a:solidFill>
                        </a:rPr>
                        <a:t>MERLIN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€7.0bn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28%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Colonial</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€4.1bn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Covivio</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€5.2bn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~5.1%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83464">
                <a:tc>
                  <a:txBody>
                    <a:bodyPr/>
                    <a:lstStyle/>
                    <a:p>
                      <a:pPr algn="l">
                        <a:defRPr sz="1800"/>
                      </a:pPr>
                      <a:r>
                        <a:rPr sz="900"/>
                        <a:t>British Land</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£3.9bn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~5.8%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33%</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bl>
          </a:graphicData>
        </a:graphic>
      </p:graphicFrame>
      <p:sp>
        <p:nvSpPr>
          <p:cNvPr id="112" name="Shape 16"/>
          <p:cNvSpPr/>
          <p:nvPr/>
        </p:nvSpPr>
        <p:spPr>
          <a:xfrm>
            <a:off x="5321808" y="2852927"/>
            <a:ext cx="3566160" cy="1371601"/>
          </a:xfrm>
          <a:prstGeom prst="rect">
            <a:avLst/>
          </a:prstGeom>
          <a:solidFill>
            <a:srgbClr val="EAEEF8"/>
          </a:solidFill>
          <a:ln w="12700">
            <a:solidFill>
              <a:srgbClr val="C5CCEA"/>
            </a:solidFill>
          </a:ln>
        </p:spPr>
        <p:txBody>
          <a:bodyPr lIns="45719" rIns="45719"/>
          <a:lstStyle/>
          <a:p>
            <a:pPr/>
          </a:p>
        </p:txBody>
      </p:sp>
      <p:sp>
        <p:nvSpPr>
          <p:cNvPr id="113" name="Text 17"/>
          <p:cNvSpPr txBox="1"/>
          <p:nvPr/>
        </p:nvSpPr>
        <p:spPr>
          <a:xfrm>
            <a:off x="5513831" y="2944367"/>
            <a:ext cx="3200402" cy="11838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Commentary: </a:t>
            </a:r>
            <a:r>
              <a:rPr b="0">
                <a:solidFill>
                  <a:srgbClr val="445060"/>
                </a:solidFill>
              </a:rPr>
              <a:t>FFO grew +9.4% in FY2024 despite dilution from the €921m capital raise in July 2024 for data centre Phase II. Data centre revaluations (+16.9% YoY) offset yield expansion in traditional asset classes. Both S&amp;P (BBB+) and Moody's (Baa1) upgraded Merlin in 2024, reflecting low 28.3% LTV and improving cash flow. FY2024 FFO/share of €0.55 was impacted by the new share count. 2025 guidance: ~€0.54–0.56 FFO/share, DPS ~€0.40–0.42.</a:t>
            </a:r>
          </a:p>
        </p:txBody>
      </p:sp>
      <p:sp>
        <p:nvSpPr>
          <p:cNvPr id="114" name="Text 18"/>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FY2024 Results, IR Press Release Feb 2025, MarketScreener, Morningstar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116"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117"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Valuation</a:t>
            </a:r>
          </a:p>
        </p:txBody>
      </p:sp>
      <p:sp>
        <p:nvSpPr>
          <p:cNvPr id="118"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119"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120"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121"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Overview</a:t>
            </a:r>
          </a:p>
        </p:txBody>
      </p:sp>
      <p:sp>
        <p:nvSpPr>
          <p:cNvPr id="122" name="Text 6"/>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123" name="Text 7"/>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Valuation</a:t>
            </a:r>
          </a:p>
        </p:txBody>
      </p:sp>
      <p:sp>
        <p:nvSpPr>
          <p:cNvPr id="124" name="Shape 8"/>
          <p:cNvSpPr/>
          <p:nvPr/>
        </p:nvSpPr>
        <p:spPr>
          <a:xfrm>
            <a:off x="4567428" y="5084064"/>
            <a:ext cx="832104" cy="36577"/>
          </a:xfrm>
          <a:prstGeom prst="rect">
            <a:avLst/>
          </a:prstGeom>
          <a:solidFill>
            <a:srgbClr val="D4A017"/>
          </a:solidFill>
          <a:ln w="12700">
            <a:solidFill>
              <a:srgbClr val="D4A017"/>
            </a:solidFill>
          </a:ln>
        </p:spPr>
        <p:txBody>
          <a:bodyPr lIns="45719" rIns="45719"/>
          <a:lstStyle/>
          <a:p>
            <a:pPr/>
          </a:p>
        </p:txBody>
      </p:sp>
      <p:sp>
        <p:nvSpPr>
          <p:cNvPr id="125" name="Text 9"/>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126" name="Text 10"/>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Risks</a:t>
            </a:r>
          </a:p>
        </p:txBody>
      </p:sp>
      <p:sp>
        <p:nvSpPr>
          <p:cNvPr id="127"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5</a:t>
            </a:r>
          </a:p>
        </p:txBody>
      </p:sp>
      <p:sp>
        <p:nvSpPr>
          <p:cNvPr id="128" name="Text 12"/>
          <p:cNvSpPr txBox="1"/>
          <p:nvPr/>
        </p:nvSpPr>
        <p:spPr>
          <a:xfrm>
            <a:off x="320040" y="779779"/>
            <a:ext cx="49377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FFO-Based Dividend Discount Model</a:t>
            </a:r>
          </a:p>
        </p:txBody>
      </p:sp>
      <p:sp>
        <p:nvSpPr>
          <p:cNvPr id="129" name="Shape 13"/>
          <p:cNvSpPr/>
          <p:nvPr/>
        </p:nvSpPr>
        <p:spPr>
          <a:xfrm>
            <a:off x="274320" y="1042416"/>
            <a:ext cx="5029201" cy="22861"/>
          </a:xfrm>
          <a:prstGeom prst="rect">
            <a:avLst/>
          </a:prstGeom>
          <a:solidFill>
            <a:srgbClr val="D4A017"/>
          </a:solidFill>
          <a:ln w="12700">
            <a:solidFill>
              <a:srgbClr val="D4A017"/>
            </a:solidFill>
          </a:ln>
        </p:spPr>
        <p:txBody>
          <a:bodyPr lIns="45719" rIns="45719"/>
          <a:lstStyle/>
          <a:p>
            <a:pPr/>
          </a:p>
        </p:txBody>
      </p:sp>
      <p:graphicFrame>
        <p:nvGraphicFramePr>
          <p:cNvPr id="130" name="Table 0"/>
          <p:cNvGraphicFramePr/>
          <p:nvPr/>
        </p:nvGraphicFramePr>
        <p:xfrm>
          <a:off x="274320" y="1133855"/>
          <a:ext cx="5029201" cy="172821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91640"/>
                <a:gridCol w="868680"/>
                <a:gridCol w="868680"/>
                <a:gridCol w="868680"/>
                <a:gridCol w="731520"/>
              </a:tblGrid>
              <a:tr h="246888">
                <a:tc>
                  <a:txBody>
                    <a:bodyPr/>
                    <a:lstStyle/>
                    <a:p>
                      <a:pPr algn="l">
                        <a:defRPr sz="1800"/>
                      </a:pPr>
                      <a:r>
                        <a:rPr b="1" sz="900">
                          <a:solidFill>
                            <a:srgbClr val="FFFFFF"/>
                          </a:solidFill>
                        </a:rPr>
                        <a:t>Scenario</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Proj. 2025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Proj. 2026</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Proj. 2027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a:txBody>
                    <a:bodyPr/>
                    <a:lstStyle/>
                    <a:p>
                      <a:pPr algn="l">
                        <a:defRPr sz="1800"/>
                      </a:pPr>
                      <a:r>
                        <a:rPr b="1" sz="900">
                          <a:solidFill>
                            <a:srgbClr val="FFFFFF"/>
                          </a:solidFill>
                        </a:rPr>
                        <a:t>Proj. 2028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r>
              <a:tr h="246888">
                <a:tc>
                  <a:txBody>
                    <a:bodyPr/>
                    <a:lstStyle/>
                    <a:p>
                      <a:pPr algn="l">
                        <a:defRPr sz="1800"/>
                      </a:pPr>
                      <a:r>
                        <a:rPr b="1" sz="900"/>
                        <a:t>FFO/share — Base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0.56</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0.62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0.70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0.79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46888">
                <a:tc>
                  <a:txBody>
                    <a:bodyPr/>
                    <a:lstStyle/>
                    <a:p>
                      <a:pPr algn="l">
                        <a:defRPr sz="1800"/>
                      </a:pPr>
                      <a:r>
                        <a:rPr sz="900"/>
                        <a:t>Growth Rate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10.7%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12.9%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12.9%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46888">
                <a:tc>
                  <a:txBody>
                    <a:bodyPr/>
                    <a:lstStyle/>
                    <a:p>
                      <a:pPr algn="l">
                        <a:defRPr sz="1800"/>
                      </a:pPr>
                      <a:r>
                        <a:rPr b="1" sz="900"/>
                        <a:t>FFO/share — Best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0.67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0.78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0.91</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46888">
                <a:tc>
                  <a:txBody>
                    <a:bodyPr/>
                    <a:lstStyle/>
                    <a:p>
                      <a:pPr algn="l">
                        <a:defRPr sz="1800"/>
                      </a:pPr>
                      <a:r>
                        <a:rPr sz="900"/>
                        <a:t>Growth Rate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15.5%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16.4%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16.7%</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46888">
                <a:tc>
                  <a:txBody>
                    <a:bodyPr/>
                    <a:lstStyle/>
                    <a:p>
                      <a:pPr algn="l">
                        <a:defRPr sz="1800"/>
                      </a:pPr>
                      <a:r>
                        <a:rPr b="1" sz="900"/>
                        <a:t>FFO/share — Worst (€)</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0.58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0.62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0.65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46888">
                <a:tc>
                  <a:txBody>
                    <a:bodyPr/>
                    <a:lstStyle/>
                    <a:p>
                      <a:pPr algn="l">
                        <a:defRPr sz="1800"/>
                      </a:pPr>
                      <a:r>
                        <a:rPr sz="900"/>
                        <a:t>Growth Rate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7.4%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6.9%</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sz="900"/>
                        <a:t>4.8%</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bl>
          </a:graphicData>
        </a:graphic>
      </p:graphicFrame>
      <p:sp>
        <p:nvSpPr>
          <p:cNvPr id="131" name="Text 14"/>
          <p:cNvSpPr txBox="1"/>
          <p:nvPr/>
        </p:nvSpPr>
        <p:spPr>
          <a:xfrm>
            <a:off x="320040" y="3157219"/>
            <a:ext cx="49377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Cost of Equity — CAPM</a:t>
            </a:r>
          </a:p>
        </p:txBody>
      </p:sp>
      <p:sp>
        <p:nvSpPr>
          <p:cNvPr id="132" name="Shape 15"/>
          <p:cNvSpPr/>
          <p:nvPr/>
        </p:nvSpPr>
        <p:spPr>
          <a:xfrm>
            <a:off x="274320" y="3419855"/>
            <a:ext cx="5029201" cy="22861"/>
          </a:xfrm>
          <a:prstGeom prst="rect">
            <a:avLst/>
          </a:prstGeom>
          <a:solidFill>
            <a:srgbClr val="D4A017"/>
          </a:solidFill>
          <a:ln w="12700">
            <a:solidFill>
              <a:srgbClr val="D4A017"/>
            </a:solidFill>
          </a:ln>
        </p:spPr>
        <p:txBody>
          <a:bodyPr lIns="45719" rIns="45719"/>
          <a:lstStyle/>
          <a:p>
            <a:pPr/>
          </a:p>
        </p:txBody>
      </p:sp>
      <p:sp>
        <p:nvSpPr>
          <p:cNvPr id="133" name="Text 16"/>
          <p:cNvSpPr txBox="1"/>
          <p:nvPr/>
        </p:nvSpPr>
        <p:spPr>
          <a:xfrm>
            <a:off x="320040" y="3579920"/>
            <a:ext cx="4937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000">
                <a:solidFill>
                  <a:srgbClr val="1A1A2E"/>
                </a:solidFill>
              </a:defRPr>
            </a:pPr>
            <a:r>
              <a:t>Risk-Free Rate: </a:t>
            </a:r>
            <a:r>
              <a:rPr b="0">
                <a:solidFill>
                  <a:srgbClr val="445060"/>
                </a:solidFill>
              </a:rPr>
              <a:t>3.80%   </a:t>
            </a:r>
            <a:r>
              <a:t>Beta (5Y): </a:t>
            </a:r>
            <a:r>
              <a:rPr b="0">
                <a:solidFill>
                  <a:srgbClr val="445060"/>
                </a:solidFill>
              </a:rPr>
              <a:t>0.79   </a:t>
            </a:r>
            <a:r>
              <a:t>ERP: </a:t>
            </a:r>
            <a:r>
              <a:rPr b="0">
                <a:solidFill>
                  <a:srgbClr val="445060"/>
                </a:solidFill>
              </a:rPr>
              <a:t>5.50%   </a:t>
            </a:r>
            <a:r>
              <a:rPr>
                <a:solidFill>
                  <a:srgbClr val="0D1B3E"/>
                </a:solidFill>
              </a:rPr>
              <a:t>Cost of Equity: </a:t>
            </a:r>
            <a:r>
              <a:rPr>
                <a:solidFill>
                  <a:srgbClr val="D4A017"/>
                </a:solidFill>
              </a:rPr>
              <a:t>8.14%</a:t>
            </a:r>
          </a:p>
        </p:txBody>
      </p:sp>
      <p:sp>
        <p:nvSpPr>
          <p:cNvPr id="134" name="Text 17"/>
          <p:cNvSpPr txBox="1"/>
          <p:nvPr/>
        </p:nvSpPr>
        <p:spPr>
          <a:xfrm>
            <a:off x="5440679" y="779779"/>
            <a:ext cx="3383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Implied Share Price</a:t>
            </a:r>
          </a:p>
        </p:txBody>
      </p:sp>
      <p:sp>
        <p:nvSpPr>
          <p:cNvPr id="135" name="Shape 18"/>
          <p:cNvSpPr/>
          <p:nvPr/>
        </p:nvSpPr>
        <p:spPr>
          <a:xfrm>
            <a:off x="5394959" y="1042416"/>
            <a:ext cx="3474721" cy="22861"/>
          </a:xfrm>
          <a:prstGeom prst="rect">
            <a:avLst/>
          </a:prstGeom>
          <a:solidFill>
            <a:srgbClr val="D4A017"/>
          </a:solidFill>
          <a:ln w="12700">
            <a:solidFill>
              <a:srgbClr val="D4A017"/>
            </a:solidFill>
          </a:ln>
        </p:spPr>
        <p:txBody>
          <a:bodyPr lIns="45719" rIns="45719"/>
          <a:lstStyle/>
          <a:p>
            <a:pPr/>
          </a:p>
        </p:txBody>
      </p:sp>
      <p:graphicFrame>
        <p:nvGraphicFramePr>
          <p:cNvPr id="136" name="Table 1"/>
          <p:cNvGraphicFramePr/>
          <p:nvPr/>
        </p:nvGraphicFramePr>
        <p:xfrm>
          <a:off x="5394959" y="1133855"/>
          <a:ext cx="3474721" cy="261518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11679"/>
                <a:gridCol w="1463040"/>
              </a:tblGrid>
              <a:tr h="237743">
                <a:tc gridSpan="2">
                  <a:txBody>
                    <a:bodyPr/>
                    <a:lstStyle/>
                    <a:p>
                      <a:pPr algn="l">
                        <a:defRPr sz="1800"/>
                      </a:pPr>
                      <a:r>
                        <a:rPr b="1" sz="1000">
                          <a:solidFill>
                            <a:srgbClr val="FFFFFF"/>
                          </a:solidFill>
                        </a:rPr>
                        <a:t>Implied Valuation</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solidFill>
                      <a:srgbClr val="0D1B3E"/>
                    </a:solidFill>
                  </a:tcPr>
                </a:tc>
                <a:tc hMerge="1">
                  <a:tcPr/>
                </a:tc>
              </a:tr>
              <a:tr h="237743">
                <a:tc>
                  <a:txBody>
                    <a:bodyPr/>
                    <a:lstStyle/>
                    <a:p>
                      <a:pPr algn="l">
                        <a:defRPr sz="1800"/>
                      </a:pPr>
                      <a:r>
                        <a:rPr sz="1000">
                          <a:solidFill>
                            <a:srgbClr val="445060"/>
                          </a:solidFill>
                        </a:rPr>
                        <a:t>Current Share Price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t>€12.40</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sz="1000">
                          <a:solidFill>
                            <a:srgbClr val="445060"/>
                          </a:solidFill>
                        </a:rPr>
                        <a:t>EPRA NTA/share (FY2024)</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t>€14.32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sz="1000">
                          <a:solidFill>
                            <a:srgbClr val="445060"/>
                          </a:solidFill>
                        </a:rPr>
                        <a:t>Implied — Base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1E7A3A"/>
                          </a:solidFill>
                        </a:rPr>
                        <a:t>€13.95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sz="1000">
                          <a:solidFill>
                            <a:srgbClr val="445060"/>
                          </a:solidFill>
                        </a:rPr>
                        <a:t>Implied — Best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1E7A3A"/>
                          </a:solidFill>
                        </a:rPr>
                        <a:t>€15.65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sz="1000">
                          <a:solidFill>
                            <a:srgbClr val="445060"/>
                          </a:solidFill>
                        </a:rPr>
                        <a:t>Implied — Worst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B22222"/>
                          </a:solidFill>
                        </a:rPr>
                        <a:t>€11.35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b="1" sz="1000">
                          <a:solidFill>
                            <a:srgbClr val="1A1A2E"/>
                          </a:solidFill>
                        </a:rPr>
                        <a:t>Upside — Base</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1E7A3A"/>
                          </a:solidFill>
                        </a:rPr>
                        <a:t>+12.5%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b="1" sz="1000">
                          <a:solidFill>
                            <a:srgbClr val="1A1A2E"/>
                          </a:solidFill>
                        </a:rPr>
                        <a:t>Upside — Best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1E7A3A"/>
                          </a:solidFill>
                        </a:rPr>
                        <a:t>+26.2%</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r h="237743">
                <a:tc>
                  <a:txBody>
                    <a:bodyPr/>
                    <a:lstStyle/>
                    <a:p>
                      <a:pPr algn="l">
                        <a:defRPr sz="1800"/>
                      </a:pPr>
                      <a:r>
                        <a:rPr b="1" sz="1000">
                          <a:solidFill>
                            <a:srgbClr val="1A1A2E"/>
                          </a:solidFill>
                        </a:rPr>
                        <a:t>Downside — Worst</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c>
                  <a:txBody>
                    <a:bodyPr/>
                    <a:lstStyle/>
                    <a:p>
                      <a:pPr algn="l">
                        <a:defRPr sz="1800"/>
                      </a:pPr>
                      <a:r>
                        <a:rPr b="1" sz="1000">
                          <a:solidFill>
                            <a:srgbClr val="B22222"/>
                          </a:solidFill>
                        </a:rPr>
                        <a:t>-8.5%</a:t>
                      </a:r>
                    </a:p>
                  </a:txBody>
                  <a:tcPr marL="45720" marR="45720" marT="45720" marB="45720" anchor="t" anchorCtr="0" horzOverflow="overflow">
                    <a:lnL w="6350">
                      <a:solidFill>
                        <a:srgbClr val="D0D5E8"/>
                      </a:solidFill>
                    </a:lnL>
                    <a:lnR w="6350">
                      <a:solidFill>
                        <a:srgbClr val="D0D5E8"/>
                      </a:solidFill>
                    </a:lnR>
                    <a:lnT w="6350">
                      <a:solidFill>
                        <a:srgbClr val="D0D5E8"/>
                      </a:solidFill>
                    </a:lnT>
                    <a:lnB w="6350">
                      <a:solidFill>
                        <a:srgbClr val="D0D5E8"/>
                      </a:solidFill>
                    </a:lnB>
                    <a:noFill/>
                  </a:tcPr>
                </a:tc>
              </a:tr>
            </a:tbl>
          </a:graphicData>
        </a:graphic>
      </p:graphicFrame>
      <p:sp>
        <p:nvSpPr>
          <p:cNvPr id="137" name="Text 19"/>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IR, Yahoo Finance, Investing.com, Bloomberg</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139"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140"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Investment Recommendation</a:t>
            </a:r>
          </a:p>
        </p:txBody>
      </p:sp>
      <p:sp>
        <p:nvSpPr>
          <p:cNvPr id="141"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142"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143"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144"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Overview</a:t>
            </a:r>
          </a:p>
        </p:txBody>
      </p:sp>
      <p:sp>
        <p:nvSpPr>
          <p:cNvPr id="145" name="Text 6"/>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146" name="Text 7"/>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147" name="Text 8"/>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Recommendation</a:t>
            </a:r>
          </a:p>
        </p:txBody>
      </p:sp>
      <p:sp>
        <p:nvSpPr>
          <p:cNvPr id="148" name="Shape 9"/>
          <p:cNvSpPr/>
          <p:nvPr/>
        </p:nvSpPr>
        <p:spPr>
          <a:xfrm>
            <a:off x="6039611" y="5084064"/>
            <a:ext cx="1088137" cy="36577"/>
          </a:xfrm>
          <a:prstGeom prst="rect">
            <a:avLst/>
          </a:prstGeom>
          <a:solidFill>
            <a:srgbClr val="D4A017"/>
          </a:solidFill>
          <a:ln w="12700">
            <a:solidFill>
              <a:srgbClr val="D4A017"/>
            </a:solidFill>
          </a:ln>
        </p:spPr>
        <p:txBody>
          <a:bodyPr lIns="45719" rIns="45719"/>
          <a:lstStyle/>
          <a:p>
            <a:pPr/>
          </a:p>
        </p:txBody>
      </p:sp>
      <p:sp>
        <p:nvSpPr>
          <p:cNvPr id="149" name="Text 10"/>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Risks</a:t>
            </a:r>
          </a:p>
        </p:txBody>
      </p:sp>
      <p:sp>
        <p:nvSpPr>
          <p:cNvPr id="150"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6</a:t>
            </a:r>
          </a:p>
        </p:txBody>
      </p:sp>
      <p:sp>
        <p:nvSpPr>
          <p:cNvPr id="151" name="Shape 12"/>
          <p:cNvSpPr/>
          <p:nvPr/>
        </p:nvSpPr>
        <p:spPr>
          <a:xfrm>
            <a:off x="274320" y="768095"/>
            <a:ext cx="8595360" cy="676658"/>
          </a:xfrm>
          <a:prstGeom prst="rect">
            <a:avLst/>
          </a:prstGeom>
          <a:solidFill>
            <a:srgbClr val="E8EBF5"/>
          </a:solidFill>
          <a:ln w="12700">
            <a:solidFill>
              <a:srgbClr val="BBBDE0"/>
            </a:solidFill>
          </a:ln>
        </p:spPr>
        <p:txBody>
          <a:bodyPr lIns="45719" rIns="45719"/>
          <a:lstStyle/>
          <a:p>
            <a:pPr/>
          </a:p>
        </p:txBody>
      </p:sp>
      <p:sp>
        <p:nvSpPr>
          <p:cNvPr id="152" name="Shape 13"/>
          <p:cNvSpPr/>
          <p:nvPr/>
        </p:nvSpPr>
        <p:spPr>
          <a:xfrm>
            <a:off x="274319" y="768095"/>
            <a:ext cx="822962" cy="676658"/>
          </a:xfrm>
          <a:prstGeom prst="rect">
            <a:avLst/>
          </a:prstGeom>
          <a:solidFill>
            <a:srgbClr val="D4A017"/>
          </a:solidFill>
          <a:ln w="12700">
            <a:solidFill>
              <a:srgbClr val="D4A017"/>
            </a:solidFill>
          </a:ln>
        </p:spPr>
        <p:txBody>
          <a:bodyPr lIns="45719" rIns="45719"/>
          <a:lstStyle/>
          <a:p>
            <a:pPr/>
          </a:p>
        </p:txBody>
      </p:sp>
      <p:sp>
        <p:nvSpPr>
          <p:cNvPr id="153" name="Text 14"/>
          <p:cNvSpPr txBox="1"/>
          <p:nvPr/>
        </p:nvSpPr>
        <p:spPr>
          <a:xfrm>
            <a:off x="320039" y="951178"/>
            <a:ext cx="73152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0D1B3E"/>
                </a:solidFill>
              </a:defRPr>
            </a:lvl1pPr>
          </a:lstStyle>
          <a:p>
            <a:pPr/>
            <a:r>
              <a:t>BUY</a:t>
            </a:r>
          </a:p>
        </p:txBody>
      </p:sp>
      <p:sp>
        <p:nvSpPr>
          <p:cNvPr id="154" name="Text 15"/>
          <p:cNvSpPr txBox="1"/>
          <p:nvPr/>
        </p:nvSpPr>
        <p:spPr>
          <a:xfrm>
            <a:off x="1188719" y="822960"/>
            <a:ext cx="7543802"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0D1B3E"/>
                </a:solidFill>
              </a:defRPr>
            </a:pPr>
            <a:r>
              <a:t>Thesis — </a:t>
            </a:r>
            <a:r>
              <a:rPr b="0">
                <a:solidFill>
                  <a:srgbClr val="1A1A2E"/>
                </a:solidFill>
              </a:rPr>
              <a:t>Merlin Properties is Iberia's leading REIT, trading at a ~13% discount to independently appraised EPRA NTA of €14.32/share, with an underappreciated data centre growth story. Its MEGA Plan has already secured hyperscaler tenants and Phase I is 70% leased. Combined with near-full occupancy across its traditional portfolio, robust FFO growth of +9.4% in FY2024, low leverage (LTV 28.3%), and investment-grade dual credit ratings, we assign a </a:t>
            </a:r>
            <a:r>
              <a:rPr>
                <a:solidFill>
                  <a:srgbClr val="D4A017"/>
                </a:solidFill>
              </a:rPr>
              <a:t>BUY</a:t>
            </a:r>
            <a:r>
              <a:rPr b="0">
                <a:solidFill>
                  <a:srgbClr val="1A1A2E"/>
                </a:solidFill>
              </a:rPr>
              <a:t> rating with a base-case target of €13.95.</a:t>
            </a:r>
          </a:p>
        </p:txBody>
      </p:sp>
      <p:sp>
        <p:nvSpPr>
          <p:cNvPr id="155" name="Text 16"/>
          <p:cNvSpPr txBox="1"/>
          <p:nvPr/>
        </p:nvSpPr>
        <p:spPr>
          <a:xfrm>
            <a:off x="320039" y="1547876"/>
            <a:ext cx="26974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Valuation &amp; Financial Performance</a:t>
            </a:r>
          </a:p>
        </p:txBody>
      </p:sp>
      <p:sp>
        <p:nvSpPr>
          <p:cNvPr id="156" name="Shape 17"/>
          <p:cNvSpPr/>
          <p:nvPr/>
        </p:nvSpPr>
        <p:spPr>
          <a:xfrm>
            <a:off x="274319" y="1810511"/>
            <a:ext cx="2788922" cy="22861"/>
          </a:xfrm>
          <a:prstGeom prst="rect">
            <a:avLst/>
          </a:prstGeom>
          <a:solidFill>
            <a:srgbClr val="D4A017"/>
          </a:solidFill>
          <a:ln w="12700">
            <a:solidFill>
              <a:srgbClr val="D4A017"/>
            </a:solidFill>
          </a:ln>
        </p:spPr>
        <p:txBody>
          <a:bodyPr lIns="45719" rIns="45719"/>
          <a:lstStyle/>
          <a:p>
            <a:pPr/>
          </a:p>
        </p:txBody>
      </p:sp>
      <p:sp>
        <p:nvSpPr>
          <p:cNvPr id="157" name="Text 18"/>
          <p:cNvSpPr txBox="1"/>
          <p:nvPr/>
        </p:nvSpPr>
        <p:spPr>
          <a:xfrm>
            <a:off x="320039" y="1920239"/>
            <a:ext cx="2697482" cy="6250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NAV Discount: </a:t>
            </a:r>
            <a:r>
              <a:rPr b="0">
                <a:solidFill>
                  <a:srgbClr val="445060"/>
                </a:solidFill>
              </a:rPr>
              <a:t>Shares trade ~13% below FY2024 EPRA NTA of €14.32/share, independently appraised by Savills, CBRE and JLL, offering structural margin of safety.</a:t>
            </a:r>
          </a:p>
        </p:txBody>
      </p:sp>
      <p:sp>
        <p:nvSpPr>
          <p:cNvPr id="158" name="Text 19"/>
          <p:cNvSpPr txBox="1"/>
          <p:nvPr/>
        </p:nvSpPr>
        <p:spPr>
          <a:xfrm>
            <a:off x="320039" y="2642616"/>
            <a:ext cx="2697482" cy="4853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FFO Growth: </a:t>
            </a:r>
            <a:r>
              <a:rPr b="0">
                <a:solidFill>
                  <a:srgbClr val="445060"/>
                </a:solidFill>
              </a:rPr>
              <a:t>FFO grew +9.4% to €310.8m in FY2024. FY2025 guidance of ~€0.56/share implies continued growth as data centre rental ramp-up accelerates.</a:t>
            </a:r>
          </a:p>
        </p:txBody>
      </p:sp>
      <p:sp>
        <p:nvSpPr>
          <p:cNvPr id="159" name="Text 20"/>
          <p:cNvSpPr txBox="1"/>
          <p:nvPr/>
        </p:nvSpPr>
        <p:spPr>
          <a:xfrm>
            <a:off x="320039" y="3364991"/>
            <a:ext cx="2697482" cy="4853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Strong Balance Sheet: </a:t>
            </a:r>
            <a:r>
              <a:rPr b="0">
                <a:solidFill>
                  <a:srgbClr val="445060"/>
                </a:solidFill>
              </a:rPr>
              <a:t>LTV of 28.3% (down from 35% in FY2023), 100% fixed-rate debt at avg 2.46%, liquidity position of €2.4bn and no maturities until Nov 2026.</a:t>
            </a:r>
          </a:p>
        </p:txBody>
      </p:sp>
      <p:sp>
        <p:nvSpPr>
          <p:cNvPr id="160" name="Text 21"/>
          <p:cNvSpPr txBox="1"/>
          <p:nvPr/>
        </p:nvSpPr>
        <p:spPr>
          <a:xfrm>
            <a:off x="3246119" y="1547876"/>
            <a:ext cx="26974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Macro &amp; Strategy</a:t>
            </a:r>
          </a:p>
        </p:txBody>
      </p:sp>
      <p:sp>
        <p:nvSpPr>
          <p:cNvPr id="161" name="Shape 22"/>
          <p:cNvSpPr/>
          <p:nvPr/>
        </p:nvSpPr>
        <p:spPr>
          <a:xfrm>
            <a:off x="3200399" y="1810511"/>
            <a:ext cx="2788922" cy="22861"/>
          </a:xfrm>
          <a:prstGeom prst="rect">
            <a:avLst/>
          </a:prstGeom>
          <a:solidFill>
            <a:srgbClr val="D4A017"/>
          </a:solidFill>
          <a:ln w="12700">
            <a:solidFill>
              <a:srgbClr val="D4A017"/>
            </a:solidFill>
          </a:ln>
        </p:spPr>
        <p:txBody>
          <a:bodyPr lIns="45719" rIns="45719"/>
          <a:lstStyle/>
          <a:p>
            <a:pPr/>
          </a:p>
        </p:txBody>
      </p:sp>
      <p:sp>
        <p:nvSpPr>
          <p:cNvPr id="162" name="Text 23"/>
          <p:cNvSpPr txBox="1"/>
          <p:nvPr/>
        </p:nvSpPr>
        <p:spPr>
          <a:xfrm>
            <a:off x="3246119" y="1920239"/>
            <a:ext cx="2697482" cy="6250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AI-Driven Demand: </a:t>
            </a:r>
            <a:r>
              <a:rPr b="0">
                <a:solidFill>
                  <a:srgbClr val="445060"/>
                </a:solidFill>
              </a:rPr>
              <a:t>Hyperscaler CapEx is increasingly directed to Iberian data centres. Phase I is 70% leased; Phase II (203 MW) under construction, targeting 40% of revenue by 2030.</a:t>
            </a:r>
          </a:p>
        </p:txBody>
      </p:sp>
      <p:sp>
        <p:nvSpPr>
          <p:cNvPr id="163" name="Text 24"/>
          <p:cNvSpPr txBox="1"/>
          <p:nvPr/>
        </p:nvSpPr>
        <p:spPr>
          <a:xfrm>
            <a:off x="3246119" y="2642616"/>
            <a:ext cx="2697482" cy="6250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Iberian Office Strength: </a:t>
            </a:r>
            <a:r>
              <a:rPr b="0">
                <a:solidFill>
                  <a:srgbClr val="445060"/>
                </a:solidFill>
              </a:rPr>
              <a:t>Prime Madrid office rents at record highs with occupancy reaching 94.2% in H1 2025. Supply is constrained by office-to-residential conversions in the CBD.</a:t>
            </a:r>
          </a:p>
        </p:txBody>
      </p:sp>
      <p:sp>
        <p:nvSpPr>
          <p:cNvPr id="164" name="Text 25"/>
          <p:cNvSpPr txBox="1"/>
          <p:nvPr/>
        </p:nvSpPr>
        <p:spPr>
          <a:xfrm>
            <a:off x="3246119" y="3364991"/>
            <a:ext cx="2697482" cy="6250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Logistics Tailwind: </a:t>
            </a:r>
            <a:r>
              <a:rPr b="0">
                <a:solidFill>
                  <a:srgbClr val="445060"/>
                </a:solidFill>
              </a:rPr>
              <a:t>Near-full occupancy of 99.4% in the logistics segment with 511,000 sqm of landbank providing a visible development pipeline of earnings growth.</a:t>
            </a:r>
          </a:p>
        </p:txBody>
      </p:sp>
      <p:sp>
        <p:nvSpPr>
          <p:cNvPr id="165" name="Text 26"/>
          <p:cNvSpPr txBox="1"/>
          <p:nvPr/>
        </p:nvSpPr>
        <p:spPr>
          <a:xfrm>
            <a:off x="6172199" y="1547876"/>
            <a:ext cx="26974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Market &amp; Technology</a:t>
            </a:r>
          </a:p>
        </p:txBody>
      </p:sp>
      <p:sp>
        <p:nvSpPr>
          <p:cNvPr id="166" name="Shape 27"/>
          <p:cNvSpPr/>
          <p:nvPr/>
        </p:nvSpPr>
        <p:spPr>
          <a:xfrm>
            <a:off x="6126479" y="1810511"/>
            <a:ext cx="2788921" cy="22861"/>
          </a:xfrm>
          <a:prstGeom prst="rect">
            <a:avLst/>
          </a:prstGeom>
          <a:solidFill>
            <a:srgbClr val="D4A017"/>
          </a:solidFill>
          <a:ln w="12700">
            <a:solidFill>
              <a:srgbClr val="D4A017"/>
            </a:solidFill>
          </a:ln>
        </p:spPr>
        <p:txBody>
          <a:bodyPr lIns="45719" rIns="45719"/>
          <a:lstStyle/>
          <a:p>
            <a:pPr/>
          </a:p>
        </p:txBody>
      </p:sp>
      <p:sp>
        <p:nvSpPr>
          <p:cNvPr id="167" name="Text 28"/>
          <p:cNvSpPr txBox="1"/>
          <p:nvPr/>
        </p:nvSpPr>
        <p:spPr>
          <a:xfrm>
            <a:off x="6172199" y="1920239"/>
            <a:ext cx="2697481" cy="6250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MEGA Plan Value Creation: </a:t>
            </a:r>
            <a:r>
              <a:rPr b="0">
                <a:solidFill>
                  <a:srgbClr val="445060"/>
                </a:solidFill>
              </a:rPr>
              <a:t>Data centre GAV grew +16.9% in FY2024 and +38.2% in H1 2025. Microsoft signed 18 MW in Bilbao. This value is not yet fully reflected in the share price.</a:t>
            </a:r>
          </a:p>
        </p:txBody>
      </p:sp>
      <p:sp>
        <p:nvSpPr>
          <p:cNvPr id="168" name="Text 29"/>
          <p:cNvSpPr txBox="1"/>
          <p:nvPr/>
        </p:nvSpPr>
        <p:spPr>
          <a:xfrm>
            <a:off x="6172199" y="2642616"/>
            <a:ext cx="2697481" cy="62501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Credit Upgrades: </a:t>
            </a:r>
            <a:r>
              <a:rPr b="0">
                <a:solidFill>
                  <a:srgbClr val="445060"/>
                </a:solidFill>
              </a:rPr>
              <a:t>Dual investment-grade upgrades in 2024 (S&amp;P BBB+, Moody's Baa1) validate MERLIN's financial discipline and should support re-rating towards NAV.</a:t>
            </a:r>
          </a:p>
        </p:txBody>
      </p:sp>
      <p:sp>
        <p:nvSpPr>
          <p:cNvPr id="169" name="Text 30"/>
          <p:cNvSpPr txBox="1"/>
          <p:nvPr/>
        </p:nvSpPr>
        <p:spPr>
          <a:xfrm>
            <a:off x="6172199" y="3364991"/>
            <a:ext cx="2697481" cy="6250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900">
                <a:solidFill>
                  <a:srgbClr val="0D1B3E"/>
                </a:solidFill>
              </a:defRPr>
            </a:pPr>
            <a:r>
              <a:t>ESG Leadership: </a:t>
            </a:r>
            <a:r>
              <a:rPr b="0">
                <a:solidFill>
                  <a:srgbClr val="445060"/>
                </a:solidFill>
              </a:rPr>
              <a:t>BREEAM certifications across prime office stock, 1.15 PUE on data centres, Iberdrola renewable energy partnership and DJSI constituent status.</a:t>
            </a:r>
          </a:p>
        </p:txBody>
      </p:sp>
      <p:sp>
        <p:nvSpPr>
          <p:cNvPr id="170" name="Text 31"/>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IR, Yahoo Finance, Investing.com, EPRA, Savills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172"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173"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Investment Risks</a:t>
            </a:r>
          </a:p>
        </p:txBody>
      </p:sp>
      <p:sp>
        <p:nvSpPr>
          <p:cNvPr id="174"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175"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176"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177"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Overview</a:t>
            </a:r>
          </a:p>
        </p:txBody>
      </p:sp>
      <p:sp>
        <p:nvSpPr>
          <p:cNvPr id="178" name="Text 6"/>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179" name="Text 7"/>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180" name="Text 8"/>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181" name="Text 9"/>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Risks</a:t>
            </a:r>
          </a:p>
        </p:txBody>
      </p:sp>
      <p:sp>
        <p:nvSpPr>
          <p:cNvPr id="182" name="Shape 10"/>
          <p:cNvSpPr/>
          <p:nvPr/>
        </p:nvSpPr>
        <p:spPr>
          <a:xfrm>
            <a:off x="7557516" y="5084064"/>
            <a:ext cx="704089" cy="36577"/>
          </a:xfrm>
          <a:prstGeom prst="rect">
            <a:avLst/>
          </a:prstGeom>
          <a:solidFill>
            <a:srgbClr val="D4A017"/>
          </a:solidFill>
          <a:ln w="12700">
            <a:solidFill>
              <a:srgbClr val="D4A017"/>
            </a:solidFill>
          </a:ln>
        </p:spPr>
        <p:txBody>
          <a:bodyPr lIns="45719" rIns="45719"/>
          <a:lstStyle/>
          <a:p>
            <a:pPr/>
          </a:p>
        </p:txBody>
      </p:sp>
      <p:sp>
        <p:nvSpPr>
          <p:cNvPr id="183"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7</a:t>
            </a:r>
          </a:p>
        </p:txBody>
      </p:sp>
      <p:sp>
        <p:nvSpPr>
          <p:cNvPr id="184" name="Text 12"/>
          <p:cNvSpPr txBox="1"/>
          <p:nvPr/>
        </p:nvSpPr>
        <p:spPr>
          <a:xfrm>
            <a:off x="320040" y="779779"/>
            <a:ext cx="397764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Market Risks</a:t>
            </a:r>
          </a:p>
        </p:txBody>
      </p:sp>
      <p:sp>
        <p:nvSpPr>
          <p:cNvPr id="185" name="Shape 13"/>
          <p:cNvSpPr/>
          <p:nvPr/>
        </p:nvSpPr>
        <p:spPr>
          <a:xfrm>
            <a:off x="274320" y="1042416"/>
            <a:ext cx="4069080" cy="22861"/>
          </a:xfrm>
          <a:prstGeom prst="rect">
            <a:avLst/>
          </a:prstGeom>
          <a:solidFill>
            <a:srgbClr val="D4A017"/>
          </a:solidFill>
          <a:ln w="12700">
            <a:solidFill>
              <a:srgbClr val="D4A017"/>
            </a:solidFill>
          </a:ln>
        </p:spPr>
        <p:txBody>
          <a:bodyPr lIns="45719" rIns="45719"/>
          <a:lstStyle/>
          <a:p>
            <a:pPr/>
          </a:p>
        </p:txBody>
      </p:sp>
      <p:sp>
        <p:nvSpPr>
          <p:cNvPr id="186" name="Text 14"/>
          <p:cNvSpPr txBox="1"/>
          <p:nvPr/>
        </p:nvSpPr>
        <p:spPr>
          <a:xfrm>
            <a:off x="320040" y="1161288"/>
            <a:ext cx="3977640"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Interest Rate Sensitivity: </a:t>
            </a:r>
            <a:r>
              <a:rPr b="0">
                <a:solidFill>
                  <a:srgbClr val="445060"/>
                </a:solidFill>
              </a:rPr>
              <a:t>As a REIT, Merlin's property valuations are inversely correlated with capitalisation rates. Prolonged high ECB rates would compress EPRA NTA further, even though 100% fixed-rate debt at 2.46% protects interest costs.</a:t>
            </a:r>
          </a:p>
        </p:txBody>
      </p:sp>
      <p:sp>
        <p:nvSpPr>
          <p:cNvPr id="187" name="Text 15"/>
          <p:cNvSpPr txBox="1"/>
          <p:nvPr/>
        </p:nvSpPr>
        <p:spPr>
          <a:xfrm>
            <a:off x="320040" y="1847088"/>
            <a:ext cx="3977640"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SOCIMI Tax Reform: </a:t>
            </a:r>
            <a:r>
              <a:rPr b="0">
                <a:solidFill>
                  <a:srgbClr val="445060"/>
                </a:solidFill>
              </a:rPr>
              <a:t>The Spanish coalition government has periodically proposed removing the near-zero tax regime for SOCIMIs. If enacted, Merlin's corporate tax burden would rise materially and distributable income would fall.</a:t>
            </a:r>
          </a:p>
        </p:txBody>
      </p:sp>
      <p:sp>
        <p:nvSpPr>
          <p:cNvPr id="188" name="Text 16"/>
          <p:cNvSpPr txBox="1"/>
          <p:nvPr/>
        </p:nvSpPr>
        <p:spPr>
          <a:xfrm>
            <a:off x="320040" y="2532888"/>
            <a:ext cx="3977640"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Office Demand Uncertainty: </a:t>
            </a:r>
            <a:r>
              <a:rPr b="0">
                <a:solidFill>
                  <a:srgbClr val="445060"/>
                </a:solidFill>
              </a:rPr>
              <a:t>Remote and hybrid working trends may structurally reduce demand for office space in secondary Barcelona submarkets. Non-CBD assets face higher vacancy risk than prime Madrid.</a:t>
            </a:r>
          </a:p>
        </p:txBody>
      </p:sp>
      <p:sp>
        <p:nvSpPr>
          <p:cNvPr id="189" name="Text 17"/>
          <p:cNvSpPr txBox="1"/>
          <p:nvPr/>
        </p:nvSpPr>
        <p:spPr>
          <a:xfrm>
            <a:off x="320040" y="3218688"/>
            <a:ext cx="3977640"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FX Translation Risk: </a:t>
            </a:r>
            <a:r>
              <a:rPr b="0">
                <a:solidFill>
                  <a:srgbClr val="445060"/>
                </a:solidFill>
              </a:rPr>
              <a:t>With Portuguese assets (~10% of portfolio) denominated in EUR alongside Spanish assets, broader macro shifts in EUR/USD or EUR/GBP affect international investor returns and comparative valuations.</a:t>
            </a:r>
          </a:p>
        </p:txBody>
      </p:sp>
      <p:sp>
        <p:nvSpPr>
          <p:cNvPr id="190" name="Text 18"/>
          <p:cNvSpPr txBox="1"/>
          <p:nvPr/>
        </p:nvSpPr>
        <p:spPr>
          <a:xfrm>
            <a:off x="4754879" y="779779"/>
            <a:ext cx="40690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Idiosyncratic Risks</a:t>
            </a:r>
          </a:p>
        </p:txBody>
      </p:sp>
      <p:sp>
        <p:nvSpPr>
          <p:cNvPr id="191" name="Shape 19"/>
          <p:cNvSpPr/>
          <p:nvPr/>
        </p:nvSpPr>
        <p:spPr>
          <a:xfrm>
            <a:off x="4709159" y="1042416"/>
            <a:ext cx="4160521" cy="22861"/>
          </a:xfrm>
          <a:prstGeom prst="rect">
            <a:avLst/>
          </a:prstGeom>
          <a:solidFill>
            <a:srgbClr val="D4A017"/>
          </a:solidFill>
          <a:ln w="12700">
            <a:solidFill>
              <a:srgbClr val="D4A017"/>
            </a:solidFill>
          </a:ln>
        </p:spPr>
        <p:txBody>
          <a:bodyPr lIns="45719" rIns="45719"/>
          <a:lstStyle/>
          <a:p>
            <a:pPr/>
          </a:p>
        </p:txBody>
      </p:sp>
      <p:sp>
        <p:nvSpPr>
          <p:cNvPr id="192" name="Text 20"/>
          <p:cNvSpPr txBox="1"/>
          <p:nvPr/>
        </p:nvSpPr>
        <p:spPr>
          <a:xfrm>
            <a:off x="4754879" y="1161288"/>
            <a:ext cx="4069081"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Data Centre Execution Risk: </a:t>
            </a:r>
            <a:r>
              <a:rPr b="0">
                <a:solidFill>
                  <a:srgbClr val="445060"/>
                </a:solidFill>
              </a:rPr>
              <a:t>Permitting delays have already been flagged for Madrid-Tres Cantos and Madrid-Getafe II. Delays could push Phase II rental stabilisation from 2027 to 2029-2030, deferring the expected FFO uplift materially.</a:t>
            </a:r>
          </a:p>
        </p:txBody>
      </p:sp>
      <p:sp>
        <p:nvSpPr>
          <p:cNvPr id="193" name="Text 21"/>
          <p:cNvSpPr txBox="1"/>
          <p:nvPr/>
        </p:nvSpPr>
        <p:spPr>
          <a:xfrm>
            <a:off x="4754879" y="1847088"/>
            <a:ext cx="4069081" cy="7238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Hyperscaler Concentration: </a:t>
            </a:r>
            <a:r>
              <a:rPr b="0">
                <a:solidFill>
                  <a:srgbClr val="445060"/>
                </a:solidFill>
              </a:rPr>
              <a:t>The data centre leasing pipeline is concentrated among a small number of large tenants. Any slowdown in hyperscaler AI CapEx spending, or loss of a key deal, would directly reduce revenue visibility.</a:t>
            </a:r>
          </a:p>
        </p:txBody>
      </p:sp>
      <p:sp>
        <p:nvSpPr>
          <p:cNvPr id="194" name="Text 22"/>
          <p:cNvSpPr txBox="1"/>
          <p:nvPr/>
        </p:nvSpPr>
        <p:spPr>
          <a:xfrm>
            <a:off x="4754879" y="2532888"/>
            <a:ext cx="4069081"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Capital Intensity &amp; Dilution: </a:t>
            </a:r>
            <a:r>
              <a:rPr b="0">
                <a:solidFill>
                  <a:srgbClr val="445060"/>
                </a:solidFill>
              </a:rPr>
              <a:t>Merlin carried out a €921m capital raise in July 2024 to fund Phase II, diluting FFO/share by ~10%. Further equity issuance to fund Phase II or acquisitions cannot be ruled out.</a:t>
            </a:r>
          </a:p>
        </p:txBody>
      </p:sp>
      <p:sp>
        <p:nvSpPr>
          <p:cNvPr id="195" name="Text 23"/>
          <p:cNvSpPr txBox="1"/>
          <p:nvPr/>
        </p:nvSpPr>
        <p:spPr>
          <a:xfrm>
            <a:off x="4754879" y="3218688"/>
            <a:ext cx="4069081"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Barcelona Office Softness: </a:t>
            </a:r>
            <a:r>
              <a:rPr b="0">
                <a:solidFill>
                  <a:srgbClr val="445060"/>
                </a:solidFill>
              </a:rPr>
              <a:t>Localised vacancy in the Barcelona office market highlights submarket risk. Failure to backfill vacated space at contract renewal rates could drag aggregate LfL rent growth below guidance.</a:t>
            </a:r>
          </a:p>
        </p:txBody>
      </p:sp>
      <p:sp>
        <p:nvSpPr>
          <p:cNvPr id="196" name="Text 24"/>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FY2024 Results, Investing.com, CNMV, TipRanks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6FA"/>
        </a:solidFill>
      </p:bgPr>
    </p:bg>
    <p:spTree>
      <p:nvGrpSpPr>
        <p:cNvPr id="1" name=""/>
        <p:cNvGrpSpPr/>
        <p:nvPr/>
      </p:nvGrpSpPr>
      <p:grpSpPr>
        <a:xfrm>
          <a:off x="0" y="0"/>
          <a:ext cx="0" cy="0"/>
          <a:chOff x="0" y="0"/>
          <a:chExt cx="0" cy="0"/>
        </a:xfrm>
      </p:grpSpPr>
      <p:sp>
        <p:nvSpPr>
          <p:cNvPr id="198" name="Shape 0"/>
          <p:cNvSpPr/>
          <p:nvPr/>
        </p:nvSpPr>
        <p:spPr>
          <a:xfrm>
            <a:off x="0" y="0"/>
            <a:ext cx="9144000" cy="621792"/>
          </a:xfrm>
          <a:prstGeom prst="rect">
            <a:avLst/>
          </a:prstGeom>
          <a:solidFill>
            <a:srgbClr val="0D1B3E"/>
          </a:solidFill>
          <a:ln w="12700">
            <a:solidFill>
              <a:srgbClr val="0D1B3E"/>
            </a:solidFill>
          </a:ln>
        </p:spPr>
        <p:txBody>
          <a:bodyPr lIns="45719" rIns="45719"/>
          <a:lstStyle/>
          <a:p>
            <a:pPr/>
          </a:p>
        </p:txBody>
      </p:sp>
      <p:sp>
        <p:nvSpPr>
          <p:cNvPr id="199" name="Text 1"/>
          <p:cNvSpPr txBox="1"/>
          <p:nvPr/>
        </p:nvSpPr>
        <p:spPr>
          <a:xfrm>
            <a:off x="393191" y="93726"/>
            <a:ext cx="8321042" cy="434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solidFill>
                  <a:srgbClr val="FFFFFF"/>
                </a:solidFill>
                <a:latin typeface="Trebuchet MS"/>
                <a:ea typeface="Trebuchet MS"/>
                <a:cs typeface="Trebuchet MS"/>
                <a:sym typeface="Trebuchet MS"/>
              </a:defRPr>
            </a:lvl1pPr>
          </a:lstStyle>
          <a:p>
            <a:pPr/>
            <a:r>
              <a:t>ESG</a:t>
            </a:r>
          </a:p>
        </p:txBody>
      </p:sp>
      <p:sp>
        <p:nvSpPr>
          <p:cNvPr id="200" name="Shape 2"/>
          <p:cNvSpPr/>
          <p:nvPr/>
        </p:nvSpPr>
        <p:spPr>
          <a:xfrm>
            <a:off x="0" y="621791"/>
            <a:ext cx="9144000" cy="36577"/>
          </a:xfrm>
          <a:prstGeom prst="rect">
            <a:avLst/>
          </a:prstGeom>
          <a:solidFill>
            <a:srgbClr val="D4A017"/>
          </a:solidFill>
          <a:ln w="12700">
            <a:solidFill>
              <a:srgbClr val="D4A017"/>
            </a:solidFill>
          </a:ln>
        </p:spPr>
        <p:txBody>
          <a:bodyPr lIns="45719" rIns="45719"/>
          <a:lstStyle/>
          <a:p>
            <a:pPr/>
          </a:p>
        </p:txBody>
      </p:sp>
      <p:sp>
        <p:nvSpPr>
          <p:cNvPr id="201" name="Shape 3"/>
          <p:cNvSpPr/>
          <p:nvPr/>
        </p:nvSpPr>
        <p:spPr>
          <a:xfrm>
            <a:off x="0" y="4526279"/>
            <a:ext cx="9144000" cy="617221"/>
          </a:xfrm>
          <a:prstGeom prst="rect">
            <a:avLst/>
          </a:prstGeom>
          <a:solidFill>
            <a:srgbClr val="0D1B3E"/>
          </a:solidFill>
          <a:ln w="12700">
            <a:solidFill>
              <a:srgbClr val="0D1B3E"/>
            </a:solidFill>
          </a:ln>
        </p:spPr>
        <p:txBody>
          <a:bodyPr lIns="45719" rIns="45719"/>
          <a:lstStyle/>
          <a:p>
            <a:pPr/>
          </a:p>
        </p:txBody>
      </p:sp>
      <p:sp>
        <p:nvSpPr>
          <p:cNvPr id="202" name="Text 4"/>
          <p:cNvSpPr txBox="1"/>
          <p:nvPr/>
        </p:nvSpPr>
        <p:spPr>
          <a:xfrm>
            <a:off x="246887" y="4651502"/>
            <a:ext cx="73152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D4A017"/>
                </a:solidFill>
                <a:latin typeface="Trebuchet MS"/>
                <a:ea typeface="Trebuchet MS"/>
                <a:cs typeface="Trebuchet MS"/>
                <a:sym typeface="Trebuchet MS"/>
              </a:defRPr>
            </a:lvl1pPr>
          </a:lstStyle>
          <a:p>
            <a:pPr/>
            <a:r>
              <a:t>ISMF</a:t>
            </a:r>
          </a:p>
        </p:txBody>
      </p:sp>
      <p:sp>
        <p:nvSpPr>
          <p:cNvPr id="203" name="Text 5"/>
          <p:cNvSpPr txBox="1"/>
          <p:nvPr/>
        </p:nvSpPr>
        <p:spPr>
          <a:xfrm>
            <a:off x="132588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Overview</a:t>
            </a:r>
          </a:p>
        </p:txBody>
      </p:sp>
      <p:sp>
        <p:nvSpPr>
          <p:cNvPr id="204" name="Text 6"/>
          <p:cNvSpPr txBox="1"/>
          <p:nvPr/>
        </p:nvSpPr>
        <p:spPr>
          <a:xfrm>
            <a:off x="2743199"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Financial Performance</a:t>
            </a:r>
          </a:p>
        </p:txBody>
      </p:sp>
      <p:sp>
        <p:nvSpPr>
          <p:cNvPr id="205" name="Text 7"/>
          <p:cNvSpPr txBox="1"/>
          <p:nvPr/>
        </p:nvSpPr>
        <p:spPr>
          <a:xfrm>
            <a:off x="4434840" y="4707163"/>
            <a:ext cx="109728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Valuation</a:t>
            </a:r>
          </a:p>
        </p:txBody>
      </p:sp>
      <p:sp>
        <p:nvSpPr>
          <p:cNvPr id="206" name="Text 8"/>
          <p:cNvSpPr txBox="1"/>
          <p:nvPr/>
        </p:nvSpPr>
        <p:spPr>
          <a:xfrm>
            <a:off x="5852160" y="4707163"/>
            <a:ext cx="146304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BBCCDD"/>
                </a:solidFill>
              </a:defRPr>
            </a:lvl1pPr>
          </a:lstStyle>
          <a:p>
            <a:pPr/>
            <a:r>
              <a:t>Recommendation</a:t>
            </a:r>
          </a:p>
        </p:txBody>
      </p:sp>
      <p:sp>
        <p:nvSpPr>
          <p:cNvPr id="207" name="Text 9"/>
          <p:cNvSpPr txBox="1"/>
          <p:nvPr/>
        </p:nvSpPr>
        <p:spPr>
          <a:xfrm>
            <a:off x="7452360" y="4707163"/>
            <a:ext cx="914400"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D4A017"/>
                </a:solidFill>
              </a:defRPr>
            </a:lvl1pPr>
          </a:lstStyle>
          <a:p>
            <a:pPr/>
            <a:r>
              <a:t>Risks</a:t>
            </a:r>
          </a:p>
        </p:txBody>
      </p:sp>
      <p:sp>
        <p:nvSpPr>
          <p:cNvPr id="208" name="Shape 10"/>
          <p:cNvSpPr/>
          <p:nvPr/>
        </p:nvSpPr>
        <p:spPr>
          <a:xfrm>
            <a:off x="7557516" y="5084064"/>
            <a:ext cx="704089" cy="36577"/>
          </a:xfrm>
          <a:prstGeom prst="rect">
            <a:avLst/>
          </a:prstGeom>
          <a:solidFill>
            <a:srgbClr val="D4A017"/>
          </a:solidFill>
          <a:ln w="12700">
            <a:solidFill>
              <a:srgbClr val="D4A017"/>
            </a:solidFill>
          </a:ln>
        </p:spPr>
        <p:txBody>
          <a:bodyPr lIns="45719" rIns="45719"/>
          <a:lstStyle/>
          <a:p>
            <a:pPr/>
          </a:p>
        </p:txBody>
      </p:sp>
      <p:sp>
        <p:nvSpPr>
          <p:cNvPr id="209" name="Text 11"/>
          <p:cNvSpPr txBox="1"/>
          <p:nvPr/>
        </p:nvSpPr>
        <p:spPr>
          <a:xfrm>
            <a:off x="8778239" y="4694735"/>
            <a:ext cx="2286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FFFFF"/>
                </a:solidFill>
              </a:defRPr>
            </a:lvl1pPr>
          </a:lstStyle>
          <a:p>
            <a:pPr/>
            <a:r>
              <a:t>8</a:t>
            </a:r>
          </a:p>
        </p:txBody>
      </p:sp>
      <p:sp>
        <p:nvSpPr>
          <p:cNvPr id="210" name="Text 12"/>
          <p:cNvSpPr txBox="1"/>
          <p:nvPr/>
        </p:nvSpPr>
        <p:spPr>
          <a:xfrm>
            <a:off x="320040" y="779779"/>
            <a:ext cx="397764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Sustainability</a:t>
            </a:r>
          </a:p>
        </p:txBody>
      </p:sp>
      <p:sp>
        <p:nvSpPr>
          <p:cNvPr id="211" name="Shape 13"/>
          <p:cNvSpPr/>
          <p:nvPr/>
        </p:nvSpPr>
        <p:spPr>
          <a:xfrm>
            <a:off x="274320" y="1042416"/>
            <a:ext cx="4069080" cy="22861"/>
          </a:xfrm>
          <a:prstGeom prst="rect">
            <a:avLst/>
          </a:prstGeom>
          <a:solidFill>
            <a:srgbClr val="D4A017"/>
          </a:solidFill>
          <a:ln w="12700">
            <a:solidFill>
              <a:srgbClr val="D4A017"/>
            </a:solidFill>
          </a:ln>
        </p:spPr>
        <p:txBody>
          <a:bodyPr lIns="45719" rIns="45719"/>
          <a:lstStyle/>
          <a:p>
            <a:pPr/>
          </a:p>
        </p:txBody>
      </p:sp>
      <p:sp>
        <p:nvSpPr>
          <p:cNvPr id="212" name="Text 14"/>
          <p:cNvSpPr txBox="1"/>
          <p:nvPr/>
        </p:nvSpPr>
        <p:spPr>
          <a:xfrm>
            <a:off x="320040" y="1161288"/>
            <a:ext cx="3977640"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Green Buildings: </a:t>
            </a:r>
            <a:r>
              <a:rPr b="0">
                <a:solidFill>
                  <a:srgbClr val="445060"/>
                </a:solidFill>
              </a:rPr>
              <a:t>90%+ of prime office GLA holds BREEAM certification (Very Good or Excellent), the highest green building penetration of any Iberian REIT.</a:t>
            </a:r>
          </a:p>
        </p:txBody>
      </p:sp>
      <p:sp>
        <p:nvSpPr>
          <p:cNvPr id="213" name="Text 15"/>
          <p:cNvSpPr txBox="1"/>
          <p:nvPr/>
        </p:nvSpPr>
        <p:spPr>
          <a:xfrm>
            <a:off x="320040" y="1828799"/>
            <a:ext cx="3977640"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Net Zero Pathway: </a:t>
            </a:r>
            <a:r>
              <a:rPr b="0">
                <a:solidFill>
                  <a:srgbClr val="445060"/>
                </a:solidFill>
              </a:rPr>
              <a:t>Paris-aligned net zero pathway targeting Scope 1 &amp; 2 by 2040 and Scope 3 by 2050. 100% renewable energy sourced for common areas across the portfolio.</a:t>
            </a:r>
          </a:p>
        </p:txBody>
      </p:sp>
      <p:sp>
        <p:nvSpPr>
          <p:cNvPr id="214" name="Text 16"/>
          <p:cNvSpPr txBox="1"/>
          <p:nvPr/>
        </p:nvSpPr>
        <p:spPr>
          <a:xfrm>
            <a:off x="320040" y="2496311"/>
            <a:ext cx="3977640" cy="7238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Data Centre Efficiency: </a:t>
            </a:r>
            <a:r>
              <a:rPr b="0">
                <a:solidFill>
                  <a:srgbClr val="445060"/>
                </a:solidFill>
              </a:rPr>
              <a:t>New data centre facilities operate at a best-in-class PUE of 1.15 and WUE of 0.0. Merlin partnered with Iberdrola for renewable-powered operations, making it Spain's greenest data centre developer.</a:t>
            </a:r>
          </a:p>
        </p:txBody>
      </p:sp>
      <p:sp>
        <p:nvSpPr>
          <p:cNvPr id="215" name="Text 17"/>
          <p:cNvSpPr txBox="1"/>
          <p:nvPr/>
        </p:nvSpPr>
        <p:spPr>
          <a:xfrm>
            <a:off x="4754879" y="779779"/>
            <a:ext cx="40690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Social Responsibility</a:t>
            </a:r>
          </a:p>
        </p:txBody>
      </p:sp>
      <p:sp>
        <p:nvSpPr>
          <p:cNvPr id="216" name="Shape 18"/>
          <p:cNvSpPr/>
          <p:nvPr/>
        </p:nvSpPr>
        <p:spPr>
          <a:xfrm>
            <a:off x="4709159" y="1042416"/>
            <a:ext cx="4160521" cy="22861"/>
          </a:xfrm>
          <a:prstGeom prst="rect">
            <a:avLst/>
          </a:prstGeom>
          <a:solidFill>
            <a:srgbClr val="D4A017"/>
          </a:solidFill>
          <a:ln w="12700">
            <a:solidFill>
              <a:srgbClr val="D4A017"/>
            </a:solidFill>
          </a:ln>
        </p:spPr>
        <p:txBody>
          <a:bodyPr lIns="45719" rIns="45719"/>
          <a:lstStyle/>
          <a:p>
            <a:pPr/>
          </a:p>
        </p:txBody>
      </p:sp>
      <p:sp>
        <p:nvSpPr>
          <p:cNvPr id="217" name="Text 19"/>
          <p:cNvSpPr txBox="1"/>
          <p:nvPr/>
        </p:nvSpPr>
        <p:spPr>
          <a:xfrm>
            <a:off x="4754879" y="1161288"/>
            <a:ext cx="4069081" cy="5587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Community Impact: </a:t>
            </a:r>
            <a:r>
              <a:rPr b="0">
                <a:solidFill>
                  <a:srgbClr val="445060"/>
                </a:solidFill>
              </a:rPr>
              <a:t>Merlin Cares initiative invests in social housing projects and educational programmes near logistics hubs, focusing on economic inclusion in local communities.</a:t>
            </a:r>
          </a:p>
        </p:txBody>
      </p:sp>
      <p:sp>
        <p:nvSpPr>
          <p:cNvPr id="218" name="Text 20"/>
          <p:cNvSpPr txBox="1"/>
          <p:nvPr/>
        </p:nvSpPr>
        <p:spPr>
          <a:xfrm>
            <a:off x="4754879" y="1828799"/>
            <a:ext cx="4069081"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Diversity &amp; Inclusion: </a:t>
            </a:r>
            <a:r>
              <a:rPr b="0">
                <a:solidFill>
                  <a:srgbClr val="445060"/>
                </a:solidFill>
              </a:rPr>
              <a:t>40%+ female representation in Merlin's senior management team. Publicly committed to gender pay equity audits and diverse candidate pipelines for all senior roles.</a:t>
            </a:r>
          </a:p>
        </p:txBody>
      </p:sp>
      <p:sp>
        <p:nvSpPr>
          <p:cNvPr id="219" name="Text 21"/>
          <p:cNvSpPr txBox="1"/>
          <p:nvPr/>
        </p:nvSpPr>
        <p:spPr>
          <a:xfrm>
            <a:off x="4754879" y="2496311"/>
            <a:ext cx="4069081"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Tenant Wellbeing: </a:t>
            </a:r>
            <a:r>
              <a:rPr b="0">
                <a:solidFill>
                  <a:srgbClr val="445060"/>
                </a:solidFill>
              </a:rPr>
              <a:t>Office assets incorporate WELL Standard features including air quality monitoring, enhanced natural lighting and bicycle-friendly infrastructure for occupier health.</a:t>
            </a:r>
          </a:p>
        </p:txBody>
      </p:sp>
      <p:sp>
        <p:nvSpPr>
          <p:cNvPr id="220" name="Text 22"/>
          <p:cNvSpPr txBox="1"/>
          <p:nvPr/>
        </p:nvSpPr>
        <p:spPr>
          <a:xfrm>
            <a:off x="320040" y="3239516"/>
            <a:ext cx="850392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017"/>
                </a:solidFill>
                <a:latin typeface="Trebuchet MS"/>
                <a:ea typeface="Trebuchet MS"/>
                <a:cs typeface="Trebuchet MS"/>
                <a:sym typeface="Trebuchet MS"/>
              </a:defRPr>
            </a:lvl1pPr>
          </a:lstStyle>
          <a:p>
            <a:pPr/>
            <a:r>
              <a:t>Governance</a:t>
            </a:r>
          </a:p>
        </p:txBody>
      </p:sp>
      <p:sp>
        <p:nvSpPr>
          <p:cNvPr id="221" name="Shape 23"/>
          <p:cNvSpPr/>
          <p:nvPr/>
        </p:nvSpPr>
        <p:spPr>
          <a:xfrm>
            <a:off x="274320" y="3502152"/>
            <a:ext cx="8595360" cy="22861"/>
          </a:xfrm>
          <a:prstGeom prst="rect">
            <a:avLst/>
          </a:prstGeom>
          <a:solidFill>
            <a:srgbClr val="D4A017"/>
          </a:solidFill>
          <a:ln w="12700">
            <a:solidFill>
              <a:srgbClr val="D4A017"/>
            </a:solidFill>
          </a:ln>
        </p:spPr>
        <p:txBody>
          <a:bodyPr lIns="45719" rIns="45719"/>
          <a:lstStyle/>
          <a:p>
            <a:pPr/>
          </a:p>
        </p:txBody>
      </p:sp>
      <p:sp>
        <p:nvSpPr>
          <p:cNvPr id="222" name="Text 24"/>
          <p:cNvSpPr txBox="1"/>
          <p:nvPr/>
        </p:nvSpPr>
        <p:spPr>
          <a:xfrm>
            <a:off x="320040" y="3593591"/>
            <a:ext cx="8503920"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000">
                <a:solidFill>
                  <a:srgbClr val="1A1A2E"/>
                </a:solidFill>
              </a:defRPr>
            </a:pPr>
            <a:r>
              <a:t>Board Independence: </a:t>
            </a:r>
            <a:r>
              <a:rPr b="0">
                <a:solidFill>
                  <a:srgbClr val="445060"/>
                </a:solidFill>
              </a:rPr>
              <a:t>Board of 11 directors, 7 of whom (64%) are independent non-executive directors, in line with CNMV best practice recommendations.   </a:t>
            </a:r>
            <a:r>
              <a:t>Credit Rating Upgrades: </a:t>
            </a:r>
            <a:r>
              <a:rPr b="0">
                <a:solidFill>
                  <a:srgbClr val="445060"/>
                </a:solidFill>
              </a:rPr>
              <a:t>Both S&amp;P (BBB+) and Moody's (Baa1) upgraded Merlin in 2024, reflecting disciplined leverage management and improved cash flow generation.   </a:t>
            </a:r>
            <a:r>
              <a:t>DJSI Constituent: </a:t>
            </a:r>
            <a:r>
              <a:rPr b="0">
                <a:solidFill>
                  <a:srgbClr val="445060"/>
                </a:solidFill>
              </a:rPr>
              <a:t>Merlin is included in the Dow Jones Sustainability Index, recognising best-in-class ESG performance among global real estate peers.</a:t>
            </a:r>
          </a:p>
        </p:txBody>
      </p:sp>
      <p:sp>
        <p:nvSpPr>
          <p:cNvPr id="223" name="Text 25"/>
          <p:cNvSpPr txBox="1"/>
          <p:nvPr/>
        </p:nvSpPr>
        <p:spPr>
          <a:xfrm>
            <a:off x="365760" y="4268628"/>
            <a:ext cx="813816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700">
                <a:solidFill>
                  <a:srgbClr val="6B7A8D"/>
                </a:solidFill>
              </a:defRPr>
            </a:lvl1pPr>
          </a:lstStyle>
          <a:p>
            <a:pPr/>
            <a:r>
              <a:t>Sources: Merlin Properties Annual Report 2024, CNMV, DJSI, BREEAM, Iberdrola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D1B3E"/>
        </a:solidFill>
      </p:bgPr>
    </p:bg>
    <p:spTree>
      <p:nvGrpSpPr>
        <p:cNvPr id="1" name=""/>
        <p:cNvGrpSpPr/>
        <p:nvPr/>
      </p:nvGrpSpPr>
      <p:grpSpPr>
        <a:xfrm>
          <a:off x="0" y="0"/>
          <a:ext cx="0" cy="0"/>
          <a:chOff x="0" y="0"/>
          <a:chExt cx="0" cy="0"/>
        </a:xfrm>
      </p:grpSpPr>
      <p:sp>
        <p:nvSpPr>
          <p:cNvPr id="225" name="Text 0"/>
          <p:cNvSpPr txBox="1"/>
          <p:nvPr/>
        </p:nvSpPr>
        <p:spPr>
          <a:xfrm>
            <a:off x="502919" y="358140"/>
            <a:ext cx="8138162"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600">
                <a:solidFill>
                  <a:srgbClr val="D4A017"/>
                </a:solidFill>
                <a:latin typeface="Trebuchet MS"/>
                <a:ea typeface="Trebuchet MS"/>
                <a:cs typeface="Trebuchet MS"/>
                <a:sym typeface="Trebuchet MS"/>
              </a:defRPr>
            </a:lvl1pPr>
          </a:lstStyle>
          <a:p>
            <a:pPr/>
            <a:r>
              <a:t>Disclaimer</a:t>
            </a:r>
          </a:p>
        </p:txBody>
      </p:sp>
      <p:sp>
        <p:nvSpPr>
          <p:cNvPr id="226" name="Shape 1"/>
          <p:cNvSpPr/>
          <p:nvPr/>
        </p:nvSpPr>
        <p:spPr>
          <a:xfrm>
            <a:off x="457200" y="868680"/>
            <a:ext cx="8229600" cy="36577"/>
          </a:xfrm>
          <a:prstGeom prst="rect">
            <a:avLst/>
          </a:prstGeom>
          <a:solidFill>
            <a:srgbClr val="D4A017"/>
          </a:solidFill>
          <a:ln w="12700">
            <a:solidFill>
              <a:srgbClr val="D4A017"/>
            </a:solidFill>
          </a:ln>
        </p:spPr>
        <p:txBody>
          <a:bodyPr lIns="45719" rIns="45719"/>
          <a:lstStyle/>
          <a:p>
            <a:pPr/>
          </a:p>
        </p:txBody>
      </p:sp>
      <p:sp>
        <p:nvSpPr>
          <p:cNvPr id="227" name="Text 2"/>
          <p:cNvSpPr txBox="1"/>
          <p:nvPr/>
        </p:nvSpPr>
        <p:spPr>
          <a:xfrm>
            <a:off x="502919" y="1051559"/>
            <a:ext cx="8138162" cy="23265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40000"/>
              </a:lnSpc>
              <a:defRPr sz="1600">
                <a:solidFill>
                  <a:srgbClr val="AABBCC"/>
                </a:solidFill>
              </a:defRPr>
            </a:lvl1pPr>
          </a:lstStyle>
          <a:p>
            <a:pPr/>
            <a:r>
              <a:t>All the content and recommendations in this presentation are for educational purposes only. This analysis was prepared by Hannan as part of the Irish Student Managed Fund (ISMF) Stock Pitch competition. ISMF and the analyst decline any responsibility for any potential losses you may incur by relying on or implementing any part of the ideas contained herein. This is not authorised investment advice. Information, opinions, and estimates reflect a judgement at the time of publication and are subject to change without notice. The analyst has no business relationship with and receives no payment from any company mentioned in this presentation.</a:t>
            </a:r>
          </a:p>
        </p:txBody>
      </p:sp>
      <p:sp>
        <p:nvSpPr>
          <p:cNvPr id="228" name="Text 3"/>
          <p:cNvSpPr txBox="1"/>
          <p:nvPr/>
        </p:nvSpPr>
        <p:spPr>
          <a:xfrm>
            <a:off x="502919" y="4482006"/>
            <a:ext cx="8138162"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100">
                <a:solidFill>
                  <a:srgbClr val="556677"/>
                </a:solidFill>
              </a:defRPr>
            </a:lvl1pPr>
          </a:lstStyle>
          <a:p>
            <a:pPr/>
            <a:r>
              <a:t>ISMF | Irish Student Managed Fund</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